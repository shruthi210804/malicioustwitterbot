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7" r:id="rId11"/>
    <p:sldId id="268" r:id="rId12"/>
    <p:sldId id="269" r:id="rId13"/>
    <p:sldId id="270" r:id="rId14"/>
    <p:sldId id="271" r:id="rId15"/>
    <p:sldId id="266" r:id="rId16"/>
    <p:sldId id="265"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88" autoAdjust="0"/>
    <p:restoredTop sz="94660"/>
  </p:normalViewPr>
  <p:slideViewPr>
    <p:cSldViewPr snapToGrid="0">
      <p:cViewPr varScale="1">
        <p:scale>
          <a:sx n="81" d="100"/>
          <a:sy n="81" d="100"/>
        </p:scale>
        <p:origin x="754"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2715FEA-2391-4E08-8CA9-FB3E62B7586E}" type="datetimeFigureOut">
              <a:rPr lang="en-US" smtClean="0"/>
              <a:t>6/9/2025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A59229-CC10-4A1B-B71E-B2319CAE2B1E}" type="slidenum">
              <a:rPr lang="en-US" smtClean="0"/>
              <a:t>‹#›</a:t>
            </a:fld>
            <a:endParaRPr lang="en-US"/>
          </a:p>
        </p:txBody>
      </p:sp>
    </p:spTree>
    <p:extLst>
      <p:ext uri="{BB962C8B-B14F-4D97-AF65-F5344CB8AC3E}">
        <p14:creationId xmlns:p14="http://schemas.microsoft.com/office/powerpoint/2010/main" val="11115922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A59229-CC10-4A1B-B71E-B2319CAE2B1E}" type="slidenum">
              <a:rPr lang="en-US" smtClean="0"/>
              <a:t>12</a:t>
            </a:fld>
            <a:endParaRPr lang="en-US"/>
          </a:p>
        </p:txBody>
      </p:sp>
    </p:spTree>
    <p:extLst>
      <p:ext uri="{BB962C8B-B14F-4D97-AF65-F5344CB8AC3E}">
        <p14:creationId xmlns:p14="http://schemas.microsoft.com/office/powerpoint/2010/main" val="23071190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9307AAA-BEF3-4402-9EAD-DD1ABE15CC82}" type="datetimeFigureOut">
              <a:rPr lang="en-IN" smtClean="0"/>
              <a:t>09-06-2025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D7D34E5-8EF2-429C-9D68-B7A32E094D40}"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966019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9307AAA-BEF3-4402-9EAD-DD1ABE15CC82}" type="datetimeFigureOut">
              <a:rPr lang="en-IN" smtClean="0"/>
              <a:t>09-06-2025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D7D34E5-8EF2-429C-9D68-B7A32E094D40}" type="slidenum">
              <a:rPr lang="en-IN" smtClean="0"/>
              <a:t>‹#›</a:t>
            </a:fld>
            <a:endParaRPr lang="en-IN"/>
          </a:p>
        </p:txBody>
      </p:sp>
    </p:spTree>
    <p:extLst>
      <p:ext uri="{BB962C8B-B14F-4D97-AF65-F5344CB8AC3E}">
        <p14:creationId xmlns:p14="http://schemas.microsoft.com/office/powerpoint/2010/main" val="9223566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307AAA-BEF3-4402-9EAD-DD1ABE15CC82}" type="datetimeFigureOut">
              <a:rPr lang="en-IN" smtClean="0"/>
              <a:t>09-06-2025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D7D34E5-8EF2-429C-9D68-B7A32E094D40}"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424719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9307AAA-BEF3-4402-9EAD-DD1ABE15CC82}" type="datetimeFigureOut">
              <a:rPr lang="en-IN" smtClean="0"/>
              <a:t>09-06-2025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D7D34E5-8EF2-429C-9D68-B7A32E094D40}" type="slidenum">
              <a:rPr lang="en-IN" smtClean="0"/>
              <a:t>‹#›</a:t>
            </a:fld>
            <a:endParaRPr lang="en-IN"/>
          </a:p>
        </p:txBody>
      </p:sp>
    </p:spTree>
    <p:extLst>
      <p:ext uri="{BB962C8B-B14F-4D97-AF65-F5344CB8AC3E}">
        <p14:creationId xmlns:p14="http://schemas.microsoft.com/office/powerpoint/2010/main" val="27151762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9307AAA-BEF3-4402-9EAD-DD1ABE15CC82}" type="datetimeFigureOut">
              <a:rPr lang="en-IN" smtClean="0"/>
              <a:t>09-06-2025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D7D34E5-8EF2-429C-9D68-B7A32E094D40}" type="slidenum">
              <a:rPr lang="en-IN" smtClean="0"/>
              <a:t>‹#›</a:t>
            </a:fld>
            <a:endParaRPr lang="en-IN"/>
          </a:p>
        </p:txBody>
      </p:sp>
    </p:spTree>
    <p:extLst>
      <p:ext uri="{BB962C8B-B14F-4D97-AF65-F5344CB8AC3E}">
        <p14:creationId xmlns:p14="http://schemas.microsoft.com/office/powerpoint/2010/main" val="12300671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9307AAA-BEF3-4402-9EAD-DD1ABE15CC82}" type="datetimeFigureOut">
              <a:rPr lang="en-IN" smtClean="0"/>
              <a:t>09-06-2025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D7D34E5-8EF2-429C-9D68-B7A32E094D40}" type="slidenum">
              <a:rPr lang="en-IN" smtClean="0"/>
              <a:t>‹#›</a:t>
            </a:fld>
            <a:endParaRPr lang="en-IN"/>
          </a:p>
        </p:txBody>
      </p:sp>
    </p:spTree>
    <p:extLst>
      <p:ext uri="{BB962C8B-B14F-4D97-AF65-F5344CB8AC3E}">
        <p14:creationId xmlns:p14="http://schemas.microsoft.com/office/powerpoint/2010/main" val="6449877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B9307AAA-BEF3-4402-9EAD-DD1ABE15CC82}" type="datetimeFigureOut">
              <a:rPr lang="en-IN" smtClean="0"/>
              <a:t>09-06-2025</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5D7D34E5-8EF2-429C-9D68-B7A32E094D40}" type="slidenum">
              <a:rPr lang="en-IN" smtClean="0"/>
              <a:t>‹#›</a:t>
            </a:fld>
            <a:endParaRPr lang="en-IN"/>
          </a:p>
        </p:txBody>
      </p:sp>
    </p:spTree>
    <p:extLst>
      <p:ext uri="{BB962C8B-B14F-4D97-AF65-F5344CB8AC3E}">
        <p14:creationId xmlns:p14="http://schemas.microsoft.com/office/powerpoint/2010/main" val="18057569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B9307AAA-BEF3-4402-9EAD-DD1ABE15CC82}" type="datetimeFigureOut">
              <a:rPr lang="en-IN" smtClean="0"/>
              <a:t>09-06-2025</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5D7D34E5-8EF2-429C-9D68-B7A32E094D40}" type="slidenum">
              <a:rPr lang="en-IN" smtClean="0"/>
              <a:t>‹#›</a:t>
            </a:fld>
            <a:endParaRPr lang="en-IN"/>
          </a:p>
        </p:txBody>
      </p:sp>
    </p:spTree>
    <p:extLst>
      <p:ext uri="{BB962C8B-B14F-4D97-AF65-F5344CB8AC3E}">
        <p14:creationId xmlns:p14="http://schemas.microsoft.com/office/powerpoint/2010/main" val="26405216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9307AAA-BEF3-4402-9EAD-DD1ABE15CC82}" type="datetimeFigureOut">
              <a:rPr lang="en-IN" smtClean="0"/>
              <a:t>09-06-2025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D7D34E5-8EF2-429C-9D68-B7A32E094D40}" type="slidenum">
              <a:rPr lang="en-IN" smtClean="0"/>
              <a:t>‹#›</a:t>
            </a:fld>
            <a:endParaRPr lang="en-IN"/>
          </a:p>
        </p:txBody>
      </p:sp>
    </p:spTree>
    <p:extLst>
      <p:ext uri="{BB962C8B-B14F-4D97-AF65-F5344CB8AC3E}">
        <p14:creationId xmlns:p14="http://schemas.microsoft.com/office/powerpoint/2010/main" val="19272146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9307AAA-BEF3-4402-9EAD-DD1ABE15CC82}" type="datetimeFigureOut">
              <a:rPr lang="en-IN" smtClean="0"/>
              <a:t>09-06-2025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D7D34E5-8EF2-429C-9D68-B7A32E094D40}" type="slidenum">
              <a:rPr lang="en-IN" smtClean="0"/>
              <a:t>‹#›</a:t>
            </a:fld>
            <a:endParaRPr lang="en-IN"/>
          </a:p>
        </p:txBody>
      </p:sp>
    </p:spTree>
    <p:extLst>
      <p:ext uri="{BB962C8B-B14F-4D97-AF65-F5344CB8AC3E}">
        <p14:creationId xmlns:p14="http://schemas.microsoft.com/office/powerpoint/2010/main" val="17210847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9307AAA-BEF3-4402-9EAD-DD1ABE15CC82}" type="datetimeFigureOut">
              <a:rPr lang="en-IN" smtClean="0"/>
              <a:t>09-06-2025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D7D34E5-8EF2-429C-9D68-B7A32E094D40}" type="slidenum">
              <a:rPr lang="en-IN" smtClean="0"/>
              <a:t>‹#›</a:t>
            </a:fld>
            <a:endParaRPr lang="en-IN"/>
          </a:p>
        </p:txBody>
      </p:sp>
    </p:spTree>
    <p:extLst>
      <p:ext uri="{BB962C8B-B14F-4D97-AF65-F5344CB8AC3E}">
        <p14:creationId xmlns:p14="http://schemas.microsoft.com/office/powerpoint/2010/main" val="4999141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B9307AAA-BEF3-4402-9EAD-DD1ABE15CC82}" type="datetimeFigureOut">
              <a:rPr lang="en-IN" smtClean="0"/>
              <a:t>09-06-2025</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5D7D34E5-8EF2-429C-9D68-B7A32E094D40}"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1027262"/>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Google Shape;84;p13">
            <a:extLst>
              <a:ext uri="{FF2B5EF4-FFF2-40B4-BE49-F238E27FC236}">
                <a16:creationId xmlns:a16="http://schemas.microsoft.com/office/drawing/2014/main" id="{032C55B0-99B0-C96F-CFF8-EAC7145FF559}"/>
              </a:ext>
            </a:extLst>
          </p:cNvPr>
          <p:cNvGraphicFramePr/>
          <p:nvPr>
            <p:extLst>
              <p:ext uri="{D42A27DB-BD31-4B8C-83A1-F6EECF244321}">
                <p14:modId xmlns:p14="http://schemas.microsoft.com/office/powerpoint/2010/main" val="3339916690"/>
              </p:ext>
            </p:extLst>
          </p:nvPr>
        </p:nvGraphicFramePr>
        <p:xfrm>
          <a:off x="1386348" y="770022"/>
          <a:ext cx="9330812" cy="1275088"/>
        </p:xfrm>
        <a:graphic>
          <a:graphicData uri="http://schemas.openxmlformats.org/drawingml/2006/table">
            <a:tbl>
              <a:tblPr>
                <a:noFill/>
              </a:tblPr>
              <a:tblGrid>
                <a:gridCol w="1807845">
                  <a:extLst>
                    <a:ext uri="{9D8B030D-6E8A-4147-A177-3AD203B41FA5}">
                      <a16:colId xmlns:a16="http://schemas.microsoft.com/office/drawing/2014/main" val="20000"/>
                    </a:ext>
                  </a:extLst>
                </a:gridCol>
                <a:gridCol w="7522967">
                  <a:extLst>
                    <a:ext uri="{9D8B030D-6E8A-4147-A177-3AD203B41FA5}">
                      <a16:colId xmlns:a16="http://schemas.microsoft.com/office/drawing/2014/main" val="20001"/>
                    </a:ext>
                  </a:extLst>
                </a:gridCol>
              </a:tblGrid>
              <a:tr h="1275088">
                <a:tc>
                  <a:txBody>
                    <a:bodyPr/>
                    <a:lstStyle/>
                    <a:p>
                      <a:pPr marL="0" marR="0" lvl="0" indent="0" algn="l" rtl="0">
                        <a:spcBef>
                          <a:spcPts val="0"/>
                        </a:spcBef>
                        <a:spcAft>
                          <a:spcPts val="0"/>
                        </a:spcAft>
                        <a:buNone/>
                      </a:pPr>
                      <a:endParaRPr sz="1800" dirty="0">
                        <a:solidFill>
                          <a:schemeClr val="dk1"/>
                        </a:solidFill>
                        <a:latin typeface="Arial" panose="020B0604020202020204"/>
                        <a:ea typeface="Arial" panose="020B0604020202020204"/>
                        <a:cs typeface="Arial" panose="020B0604020202020204"/>
                        <a:sym typeface="Arial" panose="020B0604020202020204"/>
                      </a:endParaRPr>
                    </a:p>
                  </a:txBody>
                  <a:tcPr marL="65400" marR="6540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300"/>
                        <a:buFont typeface="Arial Black" panose="020B0A04020102020204"/>
                        <a:buNone/>
                      </a:pPr>
                      <a:r>
                        <a:rPr lang="en-US" sz="2000" b="1" i="0" u="none" dirty="0">
                          <a:solidFill>
                            <a:srgbClr val="000000"/>
                          </a:solidFill>
                          <a:latin typeface="Arial Black" panose="020B0A04020102020204"/>
                          <a:ea typeface="Arial Black" panose="020B0A04020102020204"/>
                          <a:cs typeface="Arial Black" panose="020B0A04020102020204"/>
                          <a:sym typeface="Arial Black" panose="020B0A04020102020204"/>
                        </a:rPr>
                        <a:t>MALLA REDDY COLLEGE OF ENGINEERING </a:t>
                      </a:r>
                      <a:endParaRPr sz="2000" b="0" i="0" u="none" dirty="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ctr" rtl="0">
                        <a:lnSpc>
                          <a:spcPct val="115000"/>
                        </a:lnSpc>
                        <a:spcBef>
                          <a:spcPts val="0"/>
                        </a:spcBef>
                        <a:spcAft>
                          <a:spcPts val="0"/>
                        </a:spcAft>
                        <a:buClr>
                          <a:srgbClr val="002060"/>
                        </a:buClr>
                        <a:buSzPts val="1000"/>
                        <a:buFont typeface="Times New Roman" panose="02020603050405020304"/>
                        <a:buNone/>
                      </a:pPr>
                      <a:r>
                        <a:rPr lang="en-US" sz="1400" b="0" i="0" u="none" dirty="0">
                          <a:solidFill>
                            <a:srgbClr val="002060"/>
                          </a:solidFill>
                          <a:latin typeface="Times New Roman" panose="02020603050405020304"/>
                          <a:ea typeface="Times New Roman" panose="02020603050405020304"/>
                          <a:cs typeface="Times New Roman" panose="02020603050405020304"/>
                          <a:sym typeface="Times New Roman" panose="02020603050405020304"/>
                        </a:rPr>
                        <a:t>(Approved by AICTE, Permanently Affiliated to JNTUH)</a:t>
                      </a:r>
                      <a:endParaRPr sz="1400" b="0" i="0" u="none" dirty="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ctr" rtl="0">
                        <a:lnSpc>
                          <a:spcPct val="115000"/>
                        </a:lnSpc>
                        <a:spcBef>
                          <a:spcPts val="0"/>
                        </a:spcBef>
                        <a:spcAft>
                          <a:spcPts val="0"/>
                        </a:spcAft>
                        <a:buClr>
                          <a:schemeClr val="dk1"/>
                        </a:buClr>
                        <a:buSzPts val="1000"/>
                        <a:buFont typeface="Times New Roman" panose="02020603050405020304"/>
                        <a:buNone/>
                      </a:pPr>
                      <a:r>
                        <a:rPr lang="en-US" sz="1400" b="0" i="0" u="none" dirty="0" err="1">
                          <a:solidFill>
                            <a:schemeClr val="dk1"/>
                          </a:solidFill>
                          <a:latin typeface="Times New Roman" panose="02020603050405020304"/>
                          <a:ea typeface="Times New Roman" panose="02020603050405020304"/>
                          <a:cs typeface="Times New Roman" panose="02020603050405020304"/>
                          <a:sym typeface="Times New Roman" panose="02020603050405020304"/>
                        </a:rPr>
                        <a:t>Recognised</a:t>
                      </a:r>
                      <a:r>
                        <a:rPr lang="en-US" sz="1400" b="0" i="0" u="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under Section 2(f) &amp; 12(B) of the UGC Act 1956, An ISO 9001:2015 Certified Institution.</a:t>
                      </a:r>
                      <a:endParaRPr sz="1400" b="0" i="0" u="none" dirty="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ctr" rtl="0">
                        <a:lnSpc>
                          <a:spcPct val="115000"/>
                        </a:lnSpc>
                        <a:spcBef>
                          <a:spcPts val="0"/>
                        </a:spcBef>
                        <a:spcAft>
                          <a:spcPts val="0"/>
                        </a:spcAft>
                        <a:buClr>
                          <a:schemeClr val="dk1"/>
                        </a:buClr>
                        <a:buSzPts val="1000"/>
                        <a:buFont typeface="Times New Roman" panose="02020603050405020304"/>
                        <a:buNone/>
                      </a:pPr>
                      <a:r>
                        <a:rPr lang="en-US" sz="1400" b="0" i="0" u="none" dirty="0" err="1">
                          <a:solidFill>
                            <a:schemeClr val="dk1"/>
                          </a:solidFill>
                          <a:latin typeface="Times New Roman" panose="02020603050405020304"/>
                          <a:ea typeface="Times New Roman" panose="02020603050405020304"/>
                          <a:cs typeface="Times New Roman" panose="02020603050405020304"/>
                          <a:sym typeface="Times New Roman" panose="02020603050405020304"/>
                        </a:rPr>
                        <a:t>Maisammaguda</a:t>
                      </a:r>
                      <a:r>
                        <a:rPr lang="en-US" sz="1400" b="0" i="0" u="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sz="1400" b="0" i="0" u="none" dirty="0" err="1">
                          <a:solidFill>
                            <a:schemeClr val="dk1"/>
                          </a:solidFill>
                          <a:latin typeface="Times New Roman" panose="02020603050405020304"/>
                          <a:ea typeface="Times New Roman" panose="02020603050405020304"/>
                          <a:cs typeface="Times New Roman" panose="02020603050405020304"/>
                          <a:sym typeface="Times New Roman" panose="02020603050405020304"/>
                        </a:rPr>
                        <a:t>Dhulapally</a:t>
                      </a:r>
                      <a:r>
                        <a:rPr lang="en-US" sz="1400" b="0" i="0" u="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post via </a:t>
                      </a:r>
                      <a:r>
                        <a:rPr lang="en-US" sz="1400" b="0" i="0" u="none" dirty="0" err="1">
                          <a:solidFill>
                            <a:schemeClr val="dk1"/>
                          </a:solidFill>
                          <a:latin typeface="Times New Roman" panose="02020603050405020304"/>
                          <a:ea typeface="Times New Roman" panose="02020603050405020304"/>
                          <a:cs typeface="Times New Roman" panose="02020603050405020304"/>
                          <a:sym typeface="Times New Roman" panose="02020603050405020304"/>
                        </a:rPr>
                        <a:t>Kompally</a:t>
                      </a:r>
                      <a:r>
                        <a:rPr lang="en-US" sz="1400" b="0" i="0" u="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sz="1400" b="0" i="0" u="none" dirty="0" err="1">
                          <a:solidFill>
                            <a:schemeClr val="dk1"/>
                          </a:solidFill>
                          <a:latin typeface="Times New Roman" panose="02020603050405020304"/>
                          <a:ea typeface="Times New Roman" panose="02020603050405020304"/>
                          <a:cs typeface="Times New Roman" panose="02020603050405020304"/>
                          <a:sym typeface="Times New Roman" panose="02020603050405020304"/>
                        </a:rPr>
                        <a:t>Secunderabad</a:t>
                      </a:r>
                      <a:r>
                        <a:rPr lang="en-US" sz="1400" b="0" i="0" u="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- 500100</a:t>
                      </a:r>
                      <a:endParaRPr sz="1400" dirty="0"/>
                    </a:p>
                  </a:txBody>
                  <a:tcPr marL="65400" marR="6540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 name="Google Shape;85;p13">
            <a:extLst>
              <a:ext uri="{FF2B5EF4-FFF2-40B4-BE49-F238E27FC236}">
                <a16:creationId xmlns:a16="http://schemas.microsoft.com/office/drawing/2014/main" id="{CE16B16C-3077-1AFA-50A5-B10EE8C51293}"/>
              </a:ext>
            </a:extLst>
          </p:cNvPr>
          <p:cNvPicPr preferRelativeResize="0"/>
          <p:nvPr/>
        </p:nvPicPr>
        <p:blipFill rotWithShape="1">
          <a:blip r:embed="rId2"/>
          <a:srcRect/>
          <a:stretch>
            <a:fillRect/>
          </a:stretch>
        </p:blipFill>
        <p:spPr>
          <a:xfrm>
            <a:off x="1564883" y="918282"/>
            <a:ext cx="1475872" cy="978567"/>
          </a:xfrm>
          <a:prstGeom prst="rect">
            <a:avLst/>
          </a:prstGeom>
          <a:noFill/>
          <a:ln>
            <a:noFill/>
          </a:ln>
        </p:spPr>
      </p:pic>
      <p:sp>
        <p:nvSpPr>
          <p:cNvPr id="5" name="TextBox 4">
            <a:extLst>
              <a:ext uri="{FF2B5EF4-FFF2-40B4-BE49-F238E27FC236}">
                <a16:creationId xmlns:a16="http://schemas.microsoft.com/office/drawing/2014/main" id="{69E48636-B5D7-899E-9950-F21FD2FCBAC0}"/>
              </a:ext>
            </a:extLst>
          </p:cNvPr>
          <p:cNvSpPr txBox="1"/>
          <p:nvPr/>
        </p:nvSpPr>
        <p:spPr>
          <a:xfrm>
            <a:off x="1564883" y="2563909"/>
            <a:ext cx="8770375" cy="707886"/>
          </a:xfrm>
          <a:prstGeom prst="rect">
            <a:avLst/>
          </a:prstGeom>
          <a:noFill/>
        </p:spPr>
        <p:txBody>
          <a:bodyPr wrap="square" rtlCol="0">
            <a:spAutoFit/>
          </a:bodyPr>
          <a:lstStyle/>
          <a:p>
            <a:r>
              <a:rPr lang="en-US" sz="4000" b="1" i="0" dirty="0">
                <a:solidFill>
                  <a:schemeClr val="dk2"/>
                </a:solidFill>
                <a:latin typeface="Bookman Old Style" panose="02050604050505020204" pitchFamily="18" charset="0"/>
                <a:ea typeface="Arial" panose="020B0604020202020204"/>
                <a:cs typeface="Arial" panose="020B0604020202020204"/>
                <a:sym typeface="Arial" panose="020B0604020202020204"/>
              </a:rPr>
              <a:t>          </a:t>
            </a:r>
            <a:r>
              <a:rPr lang="en-US" sz="4000" b="1" i="0" u="sng" dirty="0">
                <a:solidFill>
                  <a:schemeClr val="dk2"/>
                </a:solidFill>
                <a:latin typeface="Bookman Old Style" panose="02050604050505020204" pitchFamily="18" charset="0"/>
                <a:ea typeface="Arial" panose="020B0604020202020204"/>
                <a:cs typeface="Arial" panose="020B0604020202020204"/>
                <a:sym typeface="Arial" panose="020B0604020202020204"/>
              </a:rPr>
              <a:t>DEPARTMENT OF AI&amp;DS</a:t>
            </a:r>
            <a:endParaRPr lang="en-IN" sz="4000" dirty="0">
              <a:latin typeface="Bookman Old Style" panose="02050604050505020204" pitchFamily="18" charset="0"/>
            </a:endParaRPr>
          </a:p>
        </p:txBody>
      </p:sp>
      <p:sp>
        <p:nvSpPr>
          <p:cNvPr id="6" name="TextBox 5">
            <a:extLst>
              <a:ext uri="{FF2B5EF4-FFF2-40B4-BE49-F238E27FC236}">
                <a16:creationId xmlns:a16="http://schemas.microsoft.com/office/drawing/2014/main" id="{4401E5FA-D550-058D-F15A-11F0E870EC3B}"/>
              </a:ext>
            </a:extLst>
          </p:cNvPr>
          <p:cNvSpPr txBox="1"/>
          <p:nvPr/>
        </p:nvSpPr>
        <p:spPr>
          <a:xfrm>
            <a:off x="2536723" y="3790594"/>
            <a:ext cx="7620000" cy="1569660"/>
          </a:xfrm>
          <a:prstGeom prst="rect">
            <a:avLst/>
          </a:prstGeom>
          <a:noFill/>
        </p:spPr>
        <p:txBody>
          <a:bodyPr wrap="square" rtlCol="0">
            <a:spAutoFit/>
          </a:bodyPr>
          <a:lstStyle/>
          <a:p>
            <a:pPr algn="ctr"/>
            <a:r>
              <a:rPr lang="en-IN" sz="2000" dirty="0">
                <a:solidFill>
                  <a:srgbClr val="C00000"/>
                </a:solidFill>
                <a:latin typeface="Arial" panose="020B0604020202020204" pitchFamily="34" charset="0"/>
                <a:cs typeface="Arial" panose="020B0604020202020204" pitchFamily="34" charset="0"/>
              </a:rPr>
              <a:t>MAJOR PROJECT REVIEW-3</a:t>
            </a:r>
          </a:p>
          <a:p>
            <a:endParaRPr lang="en-IN" dirty="0"/>
          </a:p>
          <a:p>
            <a:pPr algn="ctr"/>
            <a:r>
              <a:rPr lang="en-IN" sz="2000" b="1" dirty="0">
                <a:latin typeface="Arial" panose="020B0604020202020204" pitchFamily="34" charset="0"/>
                <a:cs typeface="Arial" panose="020B0604020202020204" pitchFamily="34" charset="0"/>
              </a:rPr>
              <a:t>ACADEMIC YEAR:2024-2025</a:t>
            </a:r>
          </a:p>
          <a:p>
            <a:pPr algn="ctr"/>
            <a:r>
              <a:rPr lang="en-IN" sz="1900" dirty="0">
                <a:latin typeface="Arial" panose="020B0604020202020204" pitchFamily="34" charset="0"/>
                <a:cs typeface="Arial" panose="020B0604020202020204" pitchFamily="34" charset="0"/>
              </a:rPr>
              <a:t>YEAR:4 SEM:2</a:t>
            </a:r>
          </a:p>
          <a:p>
            <a:pPr algn="ctr"/>
            <a:r>
              <a:rPr lang="en-IN" sz="1900" dirty="0">
                <a:latin typeface="Arial" panose="020B0604020202020204" pitchFamily="34" charset="0"/>
                <a:cs typeface="Arial" panose="020B0604020202020204" pitchFamily="34" charset="0"/>
              </a:rPr>
              <a:t>DATE:09-06-2025</a:t>
            </a:r>
          </a:p>
        </p:txBody>
      </p:sp>
    </p:spTree>
    <p:extLst>
      <p:ext uri="{BB962C8B-B14F-4D97-AF65-F5344CB8AC3E}">
        <p14:creationId xmlns:p14="http://schemas.microsoft.com/office/powerpoint/2010/main" val="6749384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7423182-998C-C56B-AB9E-A796A9178F5B}"/>
              </a:ext>
            </a:extLst>
          </p:cNvPr>
          <p:cNvSpPr txBox="1"/>
          <p:nvPr/>
        </p:nvSpPr>
        <p:spPr>
          <a:xfrm>
            <a:off x="1026695" y="891743"/>
            <a:ext cx="10138610" cy="584775"/>
          </a:xfrm>
          <a:prstGeom prst="rect">
            <a:avLst/>
          </a:prstGeom>
          <a:noFill/>
        </p:spPr>
        <p:txBody>
          <a:bodyPr wrap="square" rtlCol="0">
            <a:spAutoFit/>
          </a:bodyPr>
          <a:lstStyle/>
          <a:p>
            <a:r>
              <a:rPr lang="en-IN" sz="3200" b="1" dirty="0"/>
              <a:t>Detecting Malicious Twitter Bots Using Machine Learning</a:t>
            </a:r>
          </a:p>
        </p:txBody>
      </p:sp>
      <p:sp>
        <p:nvSpPr>
          <p:cNvPr id="5" name="TextBox 4">
            <a:extLst>
              <a:ext uri="{FF2B5EF4-FFF2-40B4-BE49-F238E27FC236}">
                <a16:creationId xmlns:a16="http://schemas.microsoft.com/office/drawing/2014/main" id="{CE9063EF-8C41-02BD-4D8A-AACFD01D7A7A}"/>
              </a:ext>
            </a:extLst>
          </p:cNvPr>
          <p:cNvSpPr txBox="1"/>
          <p:nvPr/>
        </p:nvSpPr>
        <p:spPr>
          <a:xfrm>
            <a:off x="866274" y="2229853"/>
            <a:ext cx="9545052" cy="1990288"/>
          </a:xfrm>
          <a:prstGeom prst="rect">
            <a:avLst/>
          </a:prstGeom>
          <a:noFill/>
        </p:spPr>
        <p:txBody>
          <a:bodyPr wrap="square" rtlCol="0">
            <a:spAutoFit/>
          </a:bodyPr>
          <a:lstStyle/>
          <a:p>
            <a:pPr marL="342900" marR="0" lvl="0" indent="-342900" algn="l" rtl="0">
              <a:lnSpc>
                <a:spcPct val="100000"/>
              </a:lnSpc>
              <a:spcBef>
                <a:spcPts val="400"/>
              </a:spcBef>
              <a:spcAft>
                <a:spcPts val="0"/>
              </a:spcAft>
              <a:buClr>
                <a:schemeClr val="dk1"/>
              </a:buClr>
              <a:buSzPts val="2000"/>
              <a:buFont typeface="Bookman Old Style" panose="02050604050505020204"/>
              <a:buNone/>
            </a:pPr>
            <a:r>
              <a:rPr lang="en-US" sz="2000" b="1" u="sng" dirty="0">
                <a:solidFill>
                  <a:srgbClr val="C00000"/>
                </a:solidFill>
                <a:latin typeface="Bookman Old Style" panose="02050604050505020204"/>
                <a:ea typeface="Bookman Old Style" panose="02050604050505020204"/>
                <a:cs typeface="Bookman Old Style" panose="02050604050505020204"/>
                <a:sym typeface="Bookman Old Style" panose="02050604050505020204"/>
              </a:rPr>
              <a:t>Presented By:</a:t>
            </a:r>
            <a:endParaRPr lang="en-US" sz="2000" b="1" i="0" u="sng" strike="noStrike" cap="none" dirty="0">
              <a:solidFill>
                <a:srgbClr val="C00000"/>
              </a:solidFill>
              <a:latin typeface="Bookman Old Style" panose="02050604050505020204"/>
              <a:ea typeface="Bookman Old Style" panose="02050604050505020204"/>
              <a:cs typeface="Bookman Old Style" panose="02050604050505020204"/>
              <a:sym typeface="Bookman Old Style" panose="02050604050505020204"/>
            </a:endParaRPr>
          </a:p>
          <a:p>
            <a:pPr marL="342900" marR="0" lvl="0" indent="-342900" algn="l" rtl="0">
              <a:lnSpc>
                <a:spcPct val="100000"/>
              </a:lnSpc>
              <a:spcBef>
                <a:spcPts val="400"/>
              </a:spcBef>
              <a:spcAft>
                <a:spcPts val="0"/>
              </a:spcAft>
              <a:buClr>
                <a:schemeClr val="dk1"/>
              </a:buClr>
              <a:buSzPts val="2000"/>
              <a:buFont typeface="Bookman Old Style" panose="02050604050505020204"/>
              <a:buNone/>
            </a:pPr>
            <a:r>
              <a:rPr lang="en-US" dirty="0">
                <a:solidFill>
                  <a:schemeClr val="dk1"/>
                </a:solidFill>
                <a:latin typeface="Bookman Old Style" panose="02050604050505020204" pitchFamily="18" charset="0"/>
                <a:sym typeface="Bookman Old Style" panose="02050604050505020204"/>
              </a:rPr>
              <a:t>M. </a:t>
            </a:r>
            <a:r>
              <a:rPr lang="en-US" dirty="0" err="1">
                <a:solidFill>
                  <a:schemeClr val="dk1"/>
                </a:solidFill>
                <a:latin typeface="Bookman Old Style" panose="02050604050505020204" pitchFamily="18" charset="0"/>
                <a:sym typeface="Bookman Old Style" panose="02050604050505020204"/>
              </a:rPr>
              <a:t>Pranathi</a:t>
            </a:r>
            <a:r>
              <a:rPr lang="en-US" dirty="0">
                <a:solidFill>
                  <a:schemeClr val="dk1"/>
                </a:solidFill>
                <a:latin typeface="Bookman Old Style" panose="02050604050505020204" pitchFamily="18" charset="0"/>
                <a:sym typeface="Bookman Old Style" panose="02050604050505020204"/>
              </a:rPr>
              <a:t>               - 21Q91A7225</a:t>
            </a:r>
          </a:p>
          <a:p>
            <a:pPr marL="342900" marR="0" lvl="0" indent="-342900" algn="l" rtl="0">
              <a:lnSpc>
                <a:spcPct val="100000"/>
              </a:lnSpc>
              <a:spcBef>
                <a:spcPts val="400"/>
              </a:spcBef>
              <a:spcAft>
                <a:spcPts val="0"/>
              </a:spcAft>
              <a:buClr>
                <a:schemeClr val="dk1"/>
              </a:buClr>
              <a:buSzPts val="2000"/>
              <a:buFont typeface="Bookman Old Style" panose="02050604050505020204"/>
              <a:buNone/>
            </a:pPr>
            <a:r>
              <a:rPr lang="en-US" dirty="0">
                <a:solidFill>
                  <a:schemeClr val="dk1"/>
                </a:solidFill>
                <a:latin typeface="Bookman Old Style" panose="02050604050505020204" pitchFamily="18" charset="0"/>
                <a:sym typeface="Bookman Old Style" panose="02050604050505020204"/>
              </a:rPr>
              <a:t>G. Vinay                    - 21Q91A7243</a:t>
            </a:r>
          </a:p>
          <a:p>
            <a:pPr marL="342900" marR="0" lvl="0" indent="-342900" algn="l" rtl="0">
              <a:lnSpc>
                <a:spcPct val="100000"/>
              </a:lnSpc>
              <a:spcBef>
                <a:spcPts val="400"/>
              </a:spcBef>
              <a:spcAft>
                <a:spcPts val="0"/>
              </a:spcAft>
              <a:buClr>
                <a:schemeClr val="dk1"/>
              </a:buClr>
              <a:buSzPts val="2000"/>
              <a:buFont typeface="Bookman Old Style" panose="02050604050505020204"/>
              <a:buNone/>
            </a:pPr>
            <a:r>
              <a:rPr lang="en-US" dirty="0">
                <a:solidFill>
                  <a:schemeClr val="dk1"/>
                </a:solidFill>
                <a:latin typeface="Bookman Old Style" panose="02050604050505020204" pitchFamily="18" charset="0"/>
                <a:sym typeface="Bookman Old Style" panose="02050604050505020204"/>
              </a:rPr>
              <a:t>P. Sai Gautham         - 21Q91A7234</a:t>
            </a:r>
          </a:p>
          <a:p>
            <a:pPr marL="342900" marR="0" lvl="0" indent="-342900" algn="l" rtl="0">
              <a:lnSpc>
                <a:spcPct val="100000"/>
              </a:lnSpc>
              <a:spcBef>
                <a:spcPts val="400"/>
              </a:spcBef>
              <a:spcAft>
                <a:spcPts val="0"/>
              </a:spcAft>
              <a:buClr>
                <a:schemeClr val="dk1"/>
              </a:buClr>
              <a:buSzPts val="2000"/>
              <a:buFont typeface="Bookman Old Style" panose="02050604050505020204"/>
              <a:buNone/>
            </a:pPr>
            <a:r>
              <a:rPr lang="en-US" dirty="0">
                <a:solidFill>
                  <a:schemeClr val="dk1"/>
                </a:solidFill>
                <a:latin typeface="Bookman Old Style" panose="02050604050505020204" pitchFamily="18" charset="0"/>
                <a:sym typeface="Bookman Old Style" panose="02050604050505020204"/>
              </a:rPr>
              <a:t>G. Venkata Koushik   - 22Q95A7204</a:t>
            </a:r>
            <a:endParaRPr lang="en-US" dirty="0">
              <a:latin typeface="Bookman Old Style" panose="02050604050505020204" pitchFamily="18" charset="0"/>
            </a:endParaRPr>
          </a:p>
          <a:p>
            <a:endParaRPr lang="en-IN" dirty="0"/>
          </a:p>
        </p:txBody>
      </p:sp>
      <p:sp>
        <p:nvSpPr>
          <p:cNvPr id="6" name="TextBox 5">
            <a:extLst>
              <a:ext uri="{FF2B5EF4-FFF2-40B4-BE49-F238E27FC236}">
                <a16:creationId xmlns:a16="http://schemas.microsoft.com/office/drawing/2014/main" id="{E54E6EBA-A84D-8CDE-73E7-F602049D60B6}"/>
              </a:ext>
            </a:extLst>
          </p:cNvPr>
          <p:cNvSpPr txBox="1"/>
          <p:nvPr/>
        </p:nvSpPr>
        <p:spPr>
          <a:xfrm>
            <a:off x="7315200" y="4921347"/>
            <a:ext cx="4523874" cy="1328569"/>
          </a:xfrm>
          <a:prstGeom prst="rect">
            <a:avLst/>
          </a:prstGeom>
          <a:noFill/>
        </p:spPr>
        <p:txBody>
          <a:bodyPr wrap="square" rtlCol="0">
            <a:spAutoFit/>
          </a:bodyPr>
          <a:lstStyle/>
          <a:p>
            <a:pPr marL="342900" indent="-342900" algn="ctr">
              <a:spcBef>
                <a:spcPts val="480"/>
              </a:spcBef>
              <a:buClr>
                <a:schemeClr val="dk1"/>
              </a:buClr>
              <a:buSzPts val="2400"/>
            </a:pPr>
            <a:r>
              <a:rPr lang="en-US" sz="1800" b="1" i="0" u="sng" strike="noStrike" cap="none" dirty="0">
                <a:solidFill>
                  <a:schemeClr val="dk1"/>
                </a:solidFill>
                <a:latin typeface="Arial" panose="020B0604020202020204"/>
                <a:ea typeface="Arial" panose="020B0604020202020204"/>
                <a:cs typeface="Arial" panose="020B0604020202020204"/>
                <a:sym typeface="Arial" panose="020B0604020202020204"/>
              </a:rPr>
              <a:t>Under the Guidance</a:t>
            </a:r>
            <a:r>
              <a:rPr lang="en-US" sz="1800" b="1" u="sng" dirty="0">
                <a:solidFill>
                  <a:schemeClr val="dk1"/>
                </a:solidFill>
                <a:latin typeface="Arial" panose="020B0604020202020204"/>
                <a:ea typeface="Arial" panose="020B0604020202020204"/>
                <a:cs typeface="Arial" panose="020B0604020202020204"/>
                <a:sym typeface="Arial" panose="020B0604020202020204"/>
              </a:rPr>
              <a:t> of:</a:t>
            </a:r>
          </a:p>
          <a:p>
            <a:pPr marL="342900" indent="-342900" algn="ctr">
              <a:spcBef>
                <a:spcPts val="480"/>
              </a:spcBef>
              <a:buClr>
                <a:schemeClr val="dk1"/>
              </a:buClr>
              <a:buSzPts val="2400"/>
            </a:pPr>
            <a:r>
              <a:rPr lang="en-US" sz="1800" dirty="0">
                <a:solidFill>
                  <a:schemeClr val="dk1"/>
                </a:solidFill>
                <a:latin typeface="Bookman Old Style" panose="02050604050505020204" pitchFamily="18" charset="0"/>
                <a:ea typeface="Arial" panose="020B0604020202020204"/>
                <a:cs typeface="Arial" panose="020B0604020202020204"/>
                <a:sym typeface="Arial" panose="020B0604020202020204"/>
              </a:rPr>
              <a:t>Dr. Sateesh Nagavarapu</a:t>
            </a:r>
          </a:p>
          <a:p>
            <a:pPr marL="342900" indent="-342900" algn="ctr">
              <a:spcBef>
                <a:spcPts val="480"/>
              </a:spcBef>
              <a:buClr>
                <a:schemeClr val="dk1"/>
              </a:buClr>
              <a:buSzPts val="2400"/>
            </a:pPr>
            <a:r>
              <a:rPr lang="en-IN" dirty="0">
                <a:latin typeface="Bookman Old Style" panose="02050604050505020204" pitchFamily="18" charset="0"/>
              </a:rPr>
              <a:t>Assoc Professor </a:t>
            </a:r>
            <a:endParaRPr lang="en-IN" dirty="0">
              <a:latin typeface="Bahnschrift SemiLight" panose="020B0502040204020203" pitchFamily="34" charset="0"/>
            </a:endParaRPr>
          </a:p>
          <a:p>
            <a:endParaRPr lang="en-IN" dirty="0"/>
          </a:p>
        </p:txBody>
      </p:sp>
    </p:spTree>
    <p:extLst>
      <p:ext uri="{BB962C8B-B14F-4D97-AF65-F5344CB8AC3E}">
        <p14:creationId xmlns:p14="http://schemas.microsoft.com/office/powerpoint/2010/main" val="16666953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34317AE-52A3-76BA-FEAF-DB0D6B59F345}"/>
              </a:ext>
            </a:extLst>
          </p:cNvPr>
          <p:cNvSpPr txBox="1"/>
          <p:nvPr/>
        </p:nvSpPr>
        <p:spPr>
          <a:xfrm>
            <a:off x="1010653" y="848247"/>
            <a:ext cx="5983705" cy="400110"/>
          </a:xfrm>
          <a:prstGeom prst="rect">
            <a:avLst/>
          </a:prstGeom>
          <a:noFill/>
        </p:spPr>
        <p:txBody>
          <a:bodyPr wrap="square" rtlCol="0">
            <a:spAutoFit/>
          </a:bodyPr>
          <a:lstStyle/>
          <a:p>
            <a:r>
              <a:rPr lang="en-US" sz="2000" b="1" i="0" u="sng" dirty="0">
                <a:solidFill>
                  <a:schemeClr val="tx1"/>
                </a:solidFill>
                <a:latin typeface="Bookman Old Style" panose="02050604050505020204" pitchFamily="18" charset="0"/>
                <a:ea typeface="Arial" panose="020B0604020202020204"/>
                <a:cs typeface="Arial" panose="020B0604020202020204"/>
                <a:sym typeface="Arial" panose="020B0604020202020204"/>
              </a:rPr>
              <a:t>CONTENTS :</a:t>
            </a:r>
            <a:endParaRPr lang="en-IN" sz="2000" dirty="0"/>
          </a:p>
        </p:txBody>
      </p:sp>
      <p:sp>
        <p:nvSpPr>
          <p:cNvPr id="4" name="TextBox 3">
            <a:extLst>
              <a:ext uri="{FF2B5EF4-FFF2-40B4-BE49-F238E27FC236}">
                <a16:creationId xmlns:a16="http://schemas.microsoft.com/office/drawing/2014/main" id="{744B91AD-87BA-3D3C-E6E9-93DFEF86E2BD}"/>
              </a:ext>
            </a:extLst>
          </p:cNvPr>
          <p:cNvSpPr txBox="1"/>
          <p:nvPr/>
        </p:nvSpPr>
        <p:spPr>
          <a:xfrm>
            <a:off x="1010653" y="1844842"/>
            <a:ext cx="10026315" cy="3485570"/>
          </a:xfrm>
          <a:prstGeom prst="rect">
            <a:avLst/>
          </a:prstGeom>
          <a:noFill/>
        </p:spPr>
        <p:txBody>
          <a:bodyPr wrap="square" rtlCol="0">
            <a:spAutoFit/>
          </a:bodyPr>
          <a:lstStyle/>
          <a:p>
            <a:pPr marL="342900" marR="0" lvl="0" indent="-342900" algn="l" rtl="0">
              <a:lnSpc>
                <a:spcPct val="100000"/>
              </a:lnSpc>
              <a:spcBef>
                <a:spcPts val="0"/>
              </a:spcBef>
              <a:spcAft>
                <a:spcPts val="0"/>
              </a:spcAft>
              <a:buClr>
                <a:schemeClr val="dk1"/>
              </a:buClr>
              <a:buSzPts val="1600"/>
              <a:buFont typeface="Arial" panose="020B0604020202020204"/>
              <a:buChar char="•"/>
            </a:pPr>
            <a:r>
              <a:rPr lang="en-US" b="0" i="0" u="none" strike="noStrike" cap="none" dirty="0">
                <a:solidFill>
                  <a:schemeClr val="dk1"/>
                </a:solidFill>
                <a:latin typeface="Bookman Old Style" panose="02050604050505020204" pitchFamily="18" charset="0"/>
                <a:ea typeface="Arial" panose="020B0604020202020204"/>
                <a:cs typeface="Arial" panose="020B0604020202020204"/>
                <a:sym typeface="Arial" panose="020B0604020202020204"/>
              </a:rPr>
              <a:t>ABSTRACT</a:t>
            </a:r>
            <a:endParaRPr lang="en-US" dirty="0">
              <a:latin typeface="Bookman Old Style" panose="02050604050505020204" pitchFamily="18" charset="0"/>
            </a:endParaRPr>
          </a:p>
          <a:p>
            <a:pPr marL="342900" marR="0" lvl="0" indent="-342900" algn="l" rtl="0">
              <a:lnSpc>
                <a:spcPct val="100000"/>
              </a:lnSpc>
              <a:spcBef>
                <a:spcPts val="320"/>
              </a:spcBef>
              <a:spcAft>
                <a:spcPts val="0"/>
              </a:spcAft>
              <a:buClr>
                <a:schemeClr val="dk1"/>
              </a:buClr>
              <a:buSzPts val="1600"/>
              <a:buFont typeface="Arial" panose="020B0604020202020204"/>
              <a:buChar char="•"/>
            </a:pPr>
            <a:r>
              <a:rPr lang="en-US" b="0" i="0" u="none" strike="noStrike" cap="none" dirty="0">
                <a:solidFill>
                  <a:schemeClr val="dk1"/>
                </a:solidFill>
                <a:latin typeface="Bookman Old Style" panose="02050604050505020204" pitchFamily="18" charset="0"/>
                <a:ea typeface="Arial" panose="020B0604020202020204"/>
                <a:cs typeface="Arial" panose="020B0604020202020204"/>
                <a:sym typeface="Arial" panose="020B0604020202020204"/>
              </a:rPr>
              <a:t>INTRODUCTION</a:t>
            </a:r>
          </a:p>
          <a:p>
            <a:pPr marL="342900" marR="0" lvl="0" indent="-342900" algn="l" rtl="0">
              <a:lnSpc>
                <a:spcPct val="100000"/>
              </a:lnSpc>
              <a:spcBef>
                <a:spcPts val="320"/>
              </a:spcBef>
              <a:spcAft>
                <a:spcPts val="0"/>
              </a:spcAft>
              <a:buClr>
                <a:schemeClr val="dk1"/>
              </a:buClr>
              <a:buSzPts val="1600"/>
              <a:buFont typeface="Arial" panose="020B0604020202020204"/>
              <a:buChar char="•"/>
            </a:pPr>
            <a:r>
              <a:rPr lang="en-US" dirty="0">
                <a:solidFill>
                  <a:schemeClr val="dk1"/>
                </a:solidFill>
                <a:latin typeface="Bookman Old Style" panose="02050604050505020204" pitchFamily="18" charset="0"/>
                <a:ea typeface="Arial" panose="020B0604020202020204"/>
                <a:cs typeface="Arial" panose="020B0604020202020204"/>
                <a:sym typeface="Arial" panose="020B0604020202020204"/>
              </a:rPr>
              <a:t>LITERATURE SURVEY</a:t>
            </a:r>
            <a:endParaRPr lang="en-US" b="0" i="0" u="none" strike="noStrike" cap="none" dirty="0">
              <a:solidFill>
                <a:schemeClr val="dk1"/>
              </a:solidFill>
              <a:latin typeface="Bookman Old Style" panose="02050604050505020204" pitchFamily="18" charset="0"/>
              <a:ea typeface="Arial" panose="020B0604020202020204"/>
              <a:cs typeface="Arial" panose="020B0604020202020204"/>
              <a:sym typeface="Arial" panose="020B0604020202020204"/>
            </a:endParaRPr>
          </a:p>
          <a:p>
            <a:pPr marL="342900" marR="0" lvl="0" indent="-342900" algn="l" rtl="0">
              <a:lnSpc>
                <a:spcPct val="100000"/>
              </a:lnSpc>
              <a:spcBef>
                <a:spcPts val="320"/>
              </a:spcBef>
              <a:spcAft>
                <a:spcPts val="0"/>
              </a:spcAft>
              <a:buClr>
                <a:schemeClr val="dk1"/>
              </a:buClr>
              <a:buSzPts val="1600"/>
              <a:buFont typeface="Arial" panose="020B0604020202020204"/>
              <a:buChar char="•"/>
            </a:pPr>
            <a:r>
              <a:rPr lang="en-US" dirty="0">
                <a:solidFill>
                  <a:schemeClr val="dk1"/>
                </a:solidFill>
                <a:latin typeface="Bookman Old Style" panose="02050604050505020204" pitchFamily="18" charset="0"/>
                <a:cs typeface="Arial" panose="020B0604020202020204"/>
                <a:sym typeface="Arial" panose="020B0604020202020204"/>
              </a:rPr>
              <a:t>EXISTING SYSTEM/PROPOSED SYSTEM</a:t>
            </a:r>
            <a:endParaRPr lang="en-US" dirty="0">
              <a:latin typeface="Bookman Old Style" panose="02050604050505020204" pitchFamily="18" charset="0"/>
            </a:endParaRPr>
          </a:p>
          <a:p>
            <a:pPr marL="342900" marR="0" lvl="0" indent="-342900" algn="l" rtl="0">
              <a:lnSpc>
                <a:spcPct val="100000"/>
              </a:lnSpc>
              <a:spcBef>
                <a:spcPts val="320"/>
              </a:spcBef>
              <a:spcAft>
                <a:spcPts val="0"/>
              </a:spcAft>
              <a:buClr>
                <a:schemeClr val="dk1"/>
              </a:buClr>
              <a:buSzPts val="1600"/>
              <a:buFont typeface="Arial" panose="020B0604020202020204"/>
              <a:buChar char="•"/>
            </a:pPr>
            <a:r>
              <a:rPr lang="en-US" b="0" i="0" u="none" strike="noStrike" cap="none" dirty="0">
                <a:solidFill>
                  <a:schemeClr val="dk1"/>
                </a:solidFill>
                <a:latin typeface="Bookman Old Style" panose="02050604050505020204" pitchFamily="18" charset="0"/>
                <a:ea typeface="Arial" panose="020B0604020202020204"/>
                <a:cs typeface="Arial" panose="020B0604020202020204"/>
                <a:sym typeface="Arial" panose="020B0604020202020204"/>
              </a:rPr>
              <a:t>MIN HARDWARE/MIN SOFTWARE REQUIREMENTS</a:t>
            </a:r>
          </a:p>
          <a:p>
            <a:pPr marL="342900" marR="0" lvl="0" indent="-342900" algn="l" rtl="0">
              <a:lnSpc>
                <a:spcPct val="100000"/>
              </a:lnSpc>
              <a:spcBef>
                <a:spcPts val="320"/>
              </a:spcBef>
              <a:spcAft>
                <a:spcPts val="0"/>
              </a:spcAft>
              <a:buClr>
                <a:schemeClr val="dk1"/>
              </a:buClr>
              <a:buSzPts val="1600"/>
              <a:buFont typeface="Arial" panose="020B0604020202020204"/>
              <a:buChar char="•"/>
            </a:pPr>
            <a:r>
              <a:rPr lang="en-US" dirty="0">
                <a:solidFill>
                  <a:schemeClr val="dk1"/>
                </a:solidFill>
                <a:latin typeface="Bookman Old Style" panose="02050604050505020204" pitchFamily="18" charset="0"/>
                <a:ea typeface="Arial" panose="020B0604020202020204"/>
                <a:cs typeface="Arial" panose="020B0604020202020204"/>
                <a:sym typeface="Arial" panose="020B0604020202020204"/>
              </a:rPr>
              <a:t>ARCHITECTURE</a:t>
            </a:r>
          </a:p>
          <a:p>
            <a:pPr marL="342900" marR="0" lvl="0" indent="-342900" algn="l" rtl="0">
              <a:lnSpc>
                <a:spcPct val="100000"/>
              </a:lnSpc>
              <a:spcBef>
                <a:spcPts val="320"/>
              </a:spcBef>
              <a:spcAft>
                <a:spcPts val="0"/>
              </a:spcAft>
              <a:buClr>
                <a:schemeClr val="dk1"/>
              </a:buClr>
              <a:buSzPts val="1600"/>
              <a:buFont typeface="Arial" panose="020B0604020202020204"/>
              <a:buChar char="•"/>
            </a:pPr>
            <a:r>
              <a:rPr lang="en-US" dirty="0">
                <a:solidFill>
                  <a:schemeClr val="dk1"/>
                </a:solidFill>
                <a:latin typeface="Bookman Old Style" panose="02050604050505020204" pitchFamily="18" charset="0"/>
                <a:ea typeface="Arial" panose="020B0604020202020204"/>
                <a:cs typeface="Arial" panose="020B0604020202020204"/>
                <a:sym typeface="Arial" panose="020B0604020202020204"/>
              </a:rPr>
              <a:t>MODULES</a:t>
            </a:r>
          </a:p>
          <a:p>
            <a:pPr marL="342900" marR="0" lvl="0" indent="-342900" algn="l" rtl="0">
              <a:lnSpc>
                <a:spcPct val="100000"/>
              </a:lnSpc>
              <a:spcBef>
                <a:spcPts val="320"/>
              </a:spcBef>
              <a:spcAft>
                <a:spcPts val="0"/>
              </a:spcAft>
              <a:buClr>
                <a:schemeClr val="dk1"/>
              </a:buClr>
              <a:buSzPts val="1600"/>
              <a:buFont typeface="Arial" panose="020B0604020202020204"/>
              <a:buChar char="•"/>
            </a:pPr>
            <a:r>
              <a:rPr lang="en-US" b="0" i="0" u="none" strike="noStrike" cap="none" dirty="0">
                <a:solidFill>
                  <a:schemeClr val="dk1"/>
                </a:solidFill>
                <a:latin typeface="Bookman Old Style" panose="02050604050505020204" pitchFamily="18" charset="0"/>
                <a:ea typeface="Arial" panose="020B0604020202020204"/>
                <a:cs typeface="Arial" panose="020B0604020202020204"/>
                <a:sym typeface="Arial" panose="020B0604020202020204"/>
              </a:rPr>
              <a:t>SAM</a:t>
            </a:r>
            <a:r>
              <a:rPr lang="en-US" dirty="0">
                <a:solidFill>
                  <a:schemeClr val="dk1"/>
                </a:solidFill>
                <a:latin typeface="Bookman Old Style" panose="02050604050505020204" pitchFamily="18" charset="0"/>
                <a:ea typeface="Arial" panose="020B0604020202020204"/>
                <a:cs typeface="Arial" panose="020B0604020202020204"/>
                <a:sym typeface="Arial" panose="020B0604020202020204"/>
              </a:rPr>
              <a:t>PLE OUTPUT</a:t>
            </a:r>
            <a:r>
              <a:rPr lang="en-US" b="0" i="0" u="none" strike="noStrike" cap="none" dirty="0">
                <a:solidFill>
                  <a:schemeClr val="dk1"/>
                </a:solidFill>
                <a:latin typeface="Bookman Old Style" panose="02050604050505020204" pitchFamily="18" charset="0"/>
                <a:ea typeface="Arial" panose="020B0604020202020204"/>
                <a:cs typeface="Arial" panose="020B0604020202020204"/>
                <a:sym typeface="Arial" panose="020B0604020202020204"/>
              </a:rPr>
              <a:t> </a:t>
            </a:r>
            <a:endParaRPr lang="en-US" dirty="0">
              <a:solidFill>
                <a:schemeClr val="dk1"/>
              </a:solidFill>
              <a:latin typeface="Bookman Old Style" panose="02050604050505020204" pitchFamily="18" charset="0"/>
              <a:ea typeface="Arial" panose="020B0604020202020204"/>
              <a:cs typeface="Arial" panose="020B0604020202020204"/>
              <a:sym typeface="Arial" panose="020B0604020202020204"/>
            </a:endParaRPr>
          </a:p>
          <a:p>
            <a:pPr marL="342900" marR="0" lvl="0" indent="-342900" algn="l" rtl="0">
              <a:lnSpc>
                <a:spcPct val="100000"/>
              </a:lnSpc>
              <a:spcBef>
                <a:spcPts val="320"/>
              </a:spcBef>
              <a:spcAft>
                <a:spcPts val="0"/>
              </a:spcAft>
              <a:buClr>
                <a:schemeClr val="dk1"/>
              </a:buClr>
              <a:buSzPts val="1600"/>
              <a:buFont typeface="Arial" panose="020B0604020202020204"/>
              <a:buChar char="•"/>
            </a:pPr>
            <a:r>
              <a:rPr lang="en-US" b="0" i="0" u="none" strike="noStrike" cap="none" dirty="0">
                <a:solidFill>
                  <a:schemeClr val="dk1"/>
                </a:solidFill>
                <a:latin typeface="Bookman Old Style" panose="02050604050505020204" pitchFamily="18" charset="0"/>
                <a:ea typeface="Arial" panose="020B0604020202020204"/>
                <a:cs typeface="Arial" panose="020B0604020202020204"/>
                <a:sym typeface="Arial" panose="020B0604020202020204"/>
              </a:rPr>
              <a:t>CONCLUSIO</a:t>
            </a:r>
            <a:r>
              <a:rPr lang="en-US" dirty="0">
                <a:solidFill>
                  <a:schemeClr val="dk1"/>
                </a:solidFill>
                <a:latin typeface="Bookman Old Style" panose="02050604050505020204" pitchFamily="18" charset="0"/>
                <a:ea typeface="Arial" panose="020B0604020202020204"/>
                <a:cs typeface="Arial" panose="020B0604020202020204"/>
                <a:sym typeface="Arial" panose="020B0604020202020204"/>
              </a:rPr>
              <a:t>N</a:t>
            </a:r>
            <a:endParaRPr lang="en-US" b="0" i="0" u="none" strike="noStrike" cap="none" dirty="0">
              <a:solidFill>
                <a:schemeClr val="dk1"/>
              </a:solidFill>
              <a:latin typeface="Bookman Old Style" panose="02050604050505020204" pitchFamily="18" charset="0"/>
              <a:ea typeface="Arial" panose="020B0604020202020204"/>
              <a:cs typeface="Arial" panose="020B0604020202020204"/>
              <a:sym typeface="Arial" panose="020B0604020202020204"/>
            </a:endParaRPr>
          </a:p>
          <a:p>
            <a:pPr marL="342900" marR="0" lvl="0" indent="-342900" algn="l" rtl="0">
              <a:lnSpc>
                <a:spcPct val="100000"/>
              </a:lnSpc>
              <a:spcBef>
                <a:spcPts val="320"/>
              </a:spcBef>
              <a:spcAft>
                <a:spcPts val="0"/>
              </a:spcAft>
              <a:buClr>
                <a:schemeClr val="dk1"/>
              </a:buClr>
              <a:buSzPts val="1600"/>
              <a:buFont typeface="Arial" panose="020B0604020202020204"/>
              <a:buChar char="•"/>
            </a:pPr>
            <a:r>
              <a:rPr lang="en-US" dirty="0">
                <a:solidFill>
                  <a:schemeClr val="dk1"/>
                </a:solidFill>
                <a:latin typeface="Bookman Old Style" panose="02050604050505020204" pitchFamily="18" charset="0"/>
                <a:cs typeface="Arial" panose="020B0604020202020204"/>
                <a:sym typeface="Arial" panose="020B0604020202020204"/>
              </a:rPr>
              <a:t>REFERENCES</a:t>
            </a:r>
            <a:endParaRPr lang="en-US" dirty="0">
              <a:latin typeface="Bookman Old Style" panose="02050604050505020204" pitchFamily="18" charset="0"/>
            </a:endParaRPr>
          </a:p>
          <a:p>
            <a:endParaRPr lang="en-IN" dirty="0"/>
          </a:p>
        </p:txBody>
      </p:sp>
    </p:spTree>
    <p:extLst>
      <p:ext uri="{BB962C8B-B14F-4D97-AF65-F5344CB8AC3E}">
        <p14:creationId xmlns:p14="http://schemas.microsoft.com/office/powerpoint/2010/main" val="42710520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05E249-C5F0-A52C-4AAE-B2F3F1596661}"/>
              </a:ext>
            </a:extLst>
          </p:cNvPr>
          <p:cNvSpPr txBox="1"/>
          <p:nvPr/>
        </p:nvSpPr>
        <p:spPr>
          <a:xfrm>
            <a:off x="961534" y="756791"/>
            <a:ext cx="3561348" cy="400110"/>
          </a:xfrm>
          <a:prstGeom prst="rect">
            <a:avLst/>
          </a:prstGeom>
          <a:noFill/>
        </p:spPr>
        <p:txBody>
          <a:bodyPr wrap="square" rtlCol="0">
            <a:spAutoFit/>
          </a:bodyPr>
          <a:lstStyle/>
          <a:p>
            <a:r>
              <a:rPr lang="en-IN" sz="2000" b="1" u="sng" dirty="0">
                <a:latin typeface="Bookman Old Style" panose="02050604050505020204" pitchFamily="18" charset="0"/>
              </a:rPr>
              <a:t>ABSTRACT</a:t>
            </a:r>
            <a:r>
              <a:rPr lang="en-IN" sz="2000" b="1" dirty="0">
                <a:latin typeface="Bookman Old Style" panose="02050604050505020204" pitchFamily="18" charset="0"/>
              </a:rPr>
              <a:t> :</a:t>
            </a:r>
            <a:r>
              <a:rPr lang="en-IN" sz="2000" dirty="0">
                <a:latin typeface="Bookman Old Style" panose="02050604050505020204" pitchFamily="18" charset="0"/>
              </a:rPr>
              <a:t> </a:t>
            </a:r>
          </a:p>
        </p:txBody>
      </p:sp>
      <p:sp>
        <p:nvSpPr>
          <p:cNvPr id="4" name="TextBox 3">
            <a:extLst>
              <a:ext uri="{FF2B5EF4-FFF2-40B4-BE49-F238E27FC236}">
                <a16:creationId xmlns:a16="http://schemas.microsoft.com/office/drawing/2014/main" id="{A1B1E1CC-3699-6231-E80F-8EAFB061D53C}"/>
              </a:ext>
            </a:extLst>
          </p:cNvPr>
          <p:cNvSpPr txBox="1"/>
          <p:nvPr/>
        </p:nvSpPr>
        <p:spPr>
          <a:xfrm>
            <a:off x="961534" y="1564849"/>
            <a:ext cx="10501460" cy="2308324"/>
          </a:xfrm>
          <a:prstGeom prst="rect">
            <a:avLst/>
          </a:prstGeom>
          <a:noFill/>
        </p:spPr>
        <p:txBody>
          <a:bodyPr wrap="square" rtlCol="0">
            <a:spAutoFit/>
          </a:bodyPr>
          <a:lstStyle/>
          <a:p>
            <a:pPr algn="just"/>
            <a:r>
              <a:rPr lang="en-US" dirty="0">
                <a:latin typeface="Bookman Old Style" panose="02050604050505020204" pitchFamily="18" charset="0"/>
              </a:rPr>
              <a:t>Twitter is widely used by people, including politicians, media, and businesses, to share opinions on various topics. However, some accounts are bots that spread spam or misinformation. </a:t>
            </a:r>
          </a:p>
          <a:p>
            <a:pPr algn="just"/>
            <a:r>
              <a:rPr lang="en-US" dirty="0">
                <a:latin typeface="Bookman Old Style" panose="02050604050505020204" pitchFamily="18" charset="0"/>
              </a:rPr>
              <a:t>Identifying these bots is important for user safety. In this study, we used machine learning—Logistic Regression and Random Forest—to classify accounts as real or fake based on Twitter profile features. </a:t>
            </a:r>
          </a:p>
          <a:p>
            <a:pPr algn="just"/>
            <a:r>
              <a:rPr lang="en-US" dirty="0">
                <a:latin typeface="Bookman Old Style" panose="02050604050505020204" pitchFamily="18" charset="0"/>
              </a:rPr>
              <a:t>Random Forest performed better with 82% accuracy, while Logistic Regression achieved 70% accuracy.</a:t>
            </a:r>
          </a:p>
        </p:txBody>
      </p:sp>
    </p:spTree>
    <p:extLst>
      <p:ext uri="{BB962C8B-B14F-4D97-AF65-F5344CB8AC3E}">
        <p14:creationId xmlns:p14="http://schemas.microsoft.com/office/powerpoint/2010/main" val="19267891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4985C16-02F5-AF65-8180-ECB1C4200B4F}"/>
              </a:ext>
            </a:extLst>
          </p:cNvPr>
          <p:cNvSpPr txBox="1"/>
          <p:nvPr/>
        </p:nvSpPr>
        <p:spPr>
          <a:xfrm>
            <a:off x="294968" y="609195"/>
            <a:ext cx="5594555" cy="400110"/>
          </a:xfrm>
          <a:prstGeom prst="rect">
            <a:avLst/>
          </a:prstGeom>
          <a:noFill/>
        </p:spPr>
        <p:txBody>
          <a:bodyPr wrap="square" rtlCol="0">
            <a:spAutoFit/>
          </a:bodyPr>
          <a:lstStyle/>
          <a:p>
            <a:r>
              <a:rPr lang="en-IN" sz="2000" b="1" u="sng" dirty="0">
                <a:latin typeface="Bookman Old Style" panose="02050604050505020204" pitchFamily="18" charset="0"/>
              </a:rPr>
              <a:t>INTRODUCTION</a:t>
            </a:r>
            <a:r>
              <a:rPr lang="en-IN" sz="2000" b="1" dirty="0">
                <a:latin typeface="Bookman Old Style" panose="02050604050505020204" pitchFamily="18" charset="0"/>
              </a:rPr>
              <a:t> :</a:t>
            </a:r>
          </a:p>
        </p:txBody>
      </p:sp>
      <p:sp>
        <p:nvSpPr>
          <p:cNvPr id="3" name="TextBox 2">
            <a:extLst>
              <a:ext uri="{FF2B5EF4-FFF2-40B4-BE49-F238E27FC236}">
                <a16:creationId xmlns:a16="http://schemas.microsoft.com/office/drawing/2014/main" id="{CE3D051F-4965-57E7-885F-BEB995645089}"/>
              </a:ext>
            </a:extLst>
          </p:cNvPr>
          <p:cNvSpPr txBox="1"/>
          <p:nvPr/>
        </p:nvSpPr>
        <p:spPr>
          <a:xfrm>
            <a:off x="294968" y="1356852"/>
            <a:ext cx="11257935" cy="2266518"/>
          </a:xfrm>
          <a:prstGeom prst="rect">
            <a:avLst/>
          </a:prstGeom>
          <a:noFill/>
        </p:spPr>
        <p:txBody>
          <a:bodyPr wrap="square" rtlCol="0">
            <a:spAutoFit/>
          </a:bodyPr>
          <a:lstStyle/>
          <a:p>
            <a:pPr algn="just">
              <a:lnSpc>
                <a:spcPct val="150000"/>
              </a:lnSpc>
            </a:pPr>
            <a:r>
              <a:rPr lang="en-US" sz="1600" dirty="0">
                <a:latin typeface="Bookman Old Style" panose="02050604050505020204" pitchFamily="18" charset="0"/>
              </a:rPr>
              <a:t>Twitter is a popular and fast-growing social media platform where users share news, express opinions, and discuss current events. People can follow others with similar interests and post short messages called tweets. Tweets can be shared widely through retweets. Hashtags (#) help users find and follow topics, and popular ones become trending. Twitter is accessible on smartphones and computers. It's used during live events, for learning, and even for promoting products through paid ads. Following is one-way—you can see someone's tweets if their account is public, but they won’t see yours unless they follow you back.</a:t>
            </a:r>
            <a:endParaRPr lang="en-IN" sz="1600" dirty="0">
              <a:latin typeface="Bookman Old Style" panose="02050604050505020204" pitchFamily="18" charset="0"/>
            </a:endParaRPr>
          </a:p>
        </p:txBody>
      </p:sp>
    </p:spTree>
    <p:extLst>
      <p:ext uri="{BB962C8B-B14F-4D97-AF65-F5344CB8AC3E}">
        <p14:creationId xmlns:p14="http://schemas.microsoft.com/office/powerpoint/2010/main" val="10210943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3E7A384-2AE0-2090-DC41-FCB13599FB68}"/>
              </a:ext>
            </a:extLst>
          </p:cNvPr>
          <p:cNvSpPr txBox="1"/>
          <p:nvPr/>
        </p:nvSpPr>
        <p:spPr>
          <a:xfrm>
            <a:off x="373626" y="530942"/>
            <a:ext cx="6754761" cy="400110"/>
          </a:xfrm>
          <a:prstGeom prst="rect">
            <a:avLst/>
          </a:prstGeom>
          <a:noFill/>
        </p:spPr>
        <p:txBody>
          <a:bodyPr wrap="square" rtlCol="0">
            <a:spAutoFit/>
          </a:bodyPr>
          <a:lstStyle/>
          <a:p>
            <a:r>
              <a:rPr lang="en-IN" sz="2000" b="1" u="sng" dirty="0">
                <a:latin typeface="Bookman Old Style" panose="02050604050505020204" pitchFamily="18" charset="0"/>
              </a:rPr>
              <a:t>LITERATURE SURVEY</a:t>
            </a:r>
            <a:r>
              <a:rPr lang="en-IN" sz="2000" b="1" dirty="0">
                <a:latin typeface="Bookman Old Style" panose="02050604050505020204" pitchFamily="18" charset="0"/>
              </a:rPr>
              <a:t> :</a:t>
            </a:r>
          </a:p>
        </p:txBody>
      </p:sp>
      <p:sp>
        <p:nvSpPr>
          <p:cNvPr id="3" name="TextBox 2">
            <a:extLst>
              <a:ext uri="{FF2B5EF4-FFF2-40B4-BE49-F238E27FC236}">
                <a16:creationId xmlns:a16="http://schemas.microsoft.com/office/drawing/2014/main" id="{43C3B4B4-4C81-1BF9-96A6-B83C1537398F}"/>
              </a:ext>
            </a:extLst>
          </p:cNvPr>
          <p:cNvSpPr txBox="1"/>
          <p:nvPr/>
        </p:nvSpPr>
        <p:spPr>
          <a:xfrm>
            <a:off x="373626" y="1348033"/>
            <a:ext cx="11249623" cy="3139321"/>
          </a:xfrm>
          <a:prstGeom prst="rect">
            <a:avLst/>
          </a:prstGeom>
          <a:noFill/>
        </p:spPr>
        <p:txBody>
          <a:bodyPr wrap="square" rtlCol="0">
            <a:spAutoFit/>
          </a:bodyPr>
          <a:lstStyle/>
          <a:p>
            <a:pPr marL="285750" indent="-285750" algn="just">
              <a:buFont typeface="Arial" panose="020B0604020202020204" pitchFamily="34" charset="0"/>
              <a:buChar char="•"/>
            </a:pPr>
            <a:r>
              <a:rPr lang="en-US" dirty="0" err="1">
                <a:latin typeface="Bookman Old Style" panose="02050604050505020204" pitchFamily="18" charset="0"/>
              </a:rPr>
              <a:t>Karataş</a:t>
            </a:r>
            <a:r>
              <a:rPr lang="en-US" dirty="0">
                <a:latin typeface="Bookman Old Style" panose="02050604050505020204" pitchFamily="18" charset="0"/>
              </a:rPr>
              <a:t> &amp; </a:t>
            </a:r>
            <a:r>
              <a:rPr lang="en-US" dirty="0" err="1">
                <a:latin typeface="Bookman Old Style" panose="02050604050505020204" pitchFamily="18" charset="0"/>
              </a:rPr>
              <a:t>Şahin</a:t>
            </a:r>
            <a:r>
              <a:rPr lang="en-US" dirty="0">
                <a:latin typeface="Bookman Old Style" panose="02050604050505020204" pitchFamily="18" charset="0"/>
              </a:rPr>
              <a:t> [5] highlighted the growing threat of malicious social bots on platforms like Twitter and Facebook. These bots can act as scammers, spammers, impersonators, and more. The paper reviews detection methods and suggests future research directions.</a:t>
            </a:r>
          </a:p>
          <a:p>
            <a:pPr marL="285750" indent="-285750" algn="just">
              <a:buFont typeface="Arial" panose="020B0604020202020204" pitchFamily="34" charset="0"/>
              <a:buChar char="•"/>
            </a:pPr>
            <a:endParaRPr lang="en-US" dirty="0">
              <a:latin typeface="Bookman Old Style" panose="02050604050505020204" pitchFamily="18" charset="0"/>
            </a:endParaRPr>
          </a:p>
          <a:p>
            <a:pPr marL="285750" indent="-285750" algn="just">
              <a:buFont typeface="Arial" panose="020B0604020202020204" pitchFamily="34" charset="0"/>
              <a:buChar char="•"/>
            </a:pPr>
            <a:r>
              <a:rPr lang="en-US" dirty="0" err="1">
                <a:latin typeface="Bookman Old Style" panose="02050604050505020204" pitchFamily="18" charset="0"/>
              </a:rPr>
              <a:t>Chavoshi</a:t>
            </a:r>
            <a:r>
              <a:rPr lang="en-US" dirty="0">
                <a:latin typeface="Bookman Old Style" panose="02050604050505020204" pitchFamily="18" charset="0"/>
              </a:rPr>
              <a:t> et al. [6] proposed a novel bot detection method on Twitter using user activity correlation without needing labeled data. Their system clusters similar user behaviors using lag-sensitive hashing, achieving 94% accuracy and identifying bots missed by other methods.</a:t>
            </a:r>
          </a:p>
          <a:p>
            <a:pPr marL="285750" indent="-285750" algn="just">
              <a:buFont typeface="Arial" panose="020B0604020202020204" pitchFamily="34" charset="0"/>
              <a:buChar char="•"/>
            </a:pPr>
            <a:endParaRPr lang="en-US" dirty="0">
              <a:latin typeface="Bookman Old Style" panose="02050604050505020204" pitchFamily="18" charset="0"/>
            </a:endParaRPr>
          </a:p>
          <a:p>
            <a:pPr marL="285750" indent="-285750" algn="just">
              <a:buFont typeface="Arial" panose="020B0604020202020204" pitchFamily="34" charset="0"/>
              <a:buChar char="•"/>
            </a:pPr>
            <a:r>
              <a:rPr lang="en-US" dirty="0">
                <a:latin typeface="Bookman Old Style" panose="02050604050505020204" pitchFamily="18" charset="0"/>
              </a:rPr>
              <a:t>Perdana et al. [7] focused on detecting Twitter bot spammers using time interval entropy and tweet similarity. Their combined approach outperformed single-feature methods, achieving 85.71% accuracy, 94.74% recall, and 90% F-measure.</a:t>
            </a:r>
          </a:p>
        </p:txBody>
      </p:sp>
    </p:spTree>
    <p:extLst>
      <p:ext uri="{BB962C8B-B14F-4D97-AF65-F5344CB8AC3E}">
        <p14:creationId xmlns:p14="http://schemas.microsoft.com/office/powerpoint/2010/main" val="18367148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DD01A58-CB14-220B-9E22-9D521E59850D}"/>
              </a:ext>
            </a:extLst>
          </p:cNvPr>
          <p:cNvSpPr txBox="1"/>
          <p:nvPr/>
        </p:nvSpPr>
        <p:spPr>
          <a:xfrm>
            <a:off x="561474" y="586943"/>
            <a:ext cx="8347587" cy="369332"/>
          </a:xfrm>
          <a:prstGeom prst="rect">
            <a:avLst/>
          </a:prstGeom>
          <a:noFill/>
        </p:spPr>
        <p:txBody>
          <a:bodyPr wrap="square" rtlCol="0">
            <a:spAutoFit/>
          </a:bodyPr>
          <a:lstStyle/>
          <a:p>
            <a:r>
              <a:rPr lang="en-US" sz="1800" dirty="0">
                <a:solidFill>
                  <a:schemeClr val="tx1"/>
                </a:solidFill>
                <a:latin typeface="Bookman Old Style" panose="02050604050505020204" pitchFamily="18" charset="0"/>
              </a:rPr>
              <a:t> </a:t>
            </a:r>
            <a:r>
              <a:rPr lang="en-US" sz="1800" b="1" u="sng" dirty="0">
                <a:solidFill>
                  <a:schemeClr val="tx1"/>
                </a:solidFill>
                <a:latin typeface="Bookman Old Style" panose="02050604050505020204" pitchFamily="18" charset="0"/>
              </a:rPr>
              <a:t>EXISTING SYSTEMS</a:t>
            </a:r>
            <a:r>
              <a:rPr lang="en-US" sz="1800" b="1" dirty="0">
                <a:solidFill>
                  <a:schemeClr val="tx1"/>
                </a:solidFill>
                <a:latin typeface="Bookman Old Style" panose="02050604050505020204" pitchFamily="18" charset="0"/>
              </a:rPr>
              <a:t> :</a:t>
            </a:r>
            <a:endParaRPr lang="en-IN" b="1" dirty="0"/>
          </a:p>
        </p:txBody>
      </p:sp>
      <p:sp>
        <p:nvSpPr>
          <p:cNvPr id="3" name="TextBox 2">
            <a:extLst>
              <a:ext uri="{FF2B5EF4-FFF2-40B4-BE49-F238E27FC236}">
                <a16:creationId xmlns:a16="http://schemas.microsoft.com/office/drawing/2014/main" id="{48DC2D6A-5A66-3971-81EE-DDCD23C2E36D}"/>
              </a:ext>
            </a:extLst>
          </p:cNvPr>
          <p:cNvSpPr txBox="1"/>
          <p:nvPr/>
        </p:nvSpPr>
        <p:spPr>
          <a:xfrm>
            <a:off x="561474" y="1250788"/>
            <a:ext cx="10892589" cy="3888244"/>
          </a:xfrm>
          <a:prstGeom prst="rect">
            <a:avLst/>
          </a:prstGeom>
          <a:noFill/>
        </p:spPr>
        <p:txBody>
          <a:bodyPr wrap="square" rtlCol="0">
            <a:spAutoFit/>
          </a:bodyPr>
          <a:lstStyle/>
          <a:p>
            <a:r>
              <a:rPr lang="en-US" sz="1600" dirty="0">
                <a:latin typeface="Bookman Old Style" panose="02050604050505020204" pitchFamily="18" charset="0"/>
              </a:rPr>
              <a:t>Social media platforms like Facebook and Twitter have become a big part of our lives. Because of their popularity, many automated accounts, called bots, use these platforms too.</a:t>
            </a:r>
          </a:p>
          <a:p>
            <a:endParaRPr lang="en-US" sz="1600" dirty="0">
              <a:latin typeface="Bookman Old Style" panose="02050604050505020204" pitchFamily="18" charset="0"/>
            </a:endParaRPr>
          </a:p>
          <a:p>
            <a:r>
              <a:rPr lang="en-US" sz="1600" dirty="0">
                <a:latin typeface="Bookman Old Style" panose="02050604050505020204" pitchFamily="18" charset="0"/>
              </a:rPr>
              <a:t>To detect bots, we look at a lot of data and pick out the most useful information using something called the Spearman correlation method.</a:t>
            </a:r>
          </a:p>
          <a:p>
            <a:endParaRPr lang="en-US" sz="1600" dirty="0">
              <a:latin typeface="Bookman Old Style" panose="02050604050505020204" pitchFamily="18" charset="0"/>
            </a:endParaRPr>
          </a:p>
          <a:p>
            <a:r>
              <a:rPr lang="en-US" sz="1600" dirty="0">
                <a:latin typeface="Bookman Old Style" panose="02050604050505020204" pitchFamily="18" charset="0"/>
              </a:rPr>
              <a:t>Then, we use a tool called Random Forest to help us. It’s a type of program that uses many decision trees (like flowcharts) to analyze the data. By combining the results from all the trees, it gives more accurate predictions.</a:t>
            </a:r>
          </a:p>
          <a:p>
            <a:pPr marR="0" algn="just">
              <a:lnSpc>
                <a:spcPct val="150000"/>
              </a:lnSpc>
              <a:spcBef>
                <a:spcPts val="0"/>
              </a:spcBef>
              <a:spcAft>
                <a:spcPts val="1000"/>
              </a:spcAft>
            </a:pPr>
            <a:br>
              <a:rPr lang="en-US" sz="1600" b="1" dirty="0">
                <a:latin typeface="Bookman Old Style" panose="02050604050505020204" pitchFamily="18" charset="0"/>
                <a:ea typeface="Calibri" panose="020F0502020204030204" pitchFamily="34" charset="0"/>
                <a:cs typeface="Times New Roman" panose="02020603050405020304" pitchFamily="18" charset="0"/>
              </a:rPr>
            </a:br>
            <a:r>
              <a:rPr lang="en-US" sz="1600" b="1" dirty="0">
                <a:effectLst/>
                <a:latin typeface="Bookman Old Style" panose="02050604050505020204" pitchFamily="18" charset="0"/>
                <a:ea typeface="Calibri" panose="020F0502020204030204" pitchFamily="34" charset="0"/>
                <a:cs typeface="Times New Roman" panose="02020603050405020304" pitchFamily="18" charset="0"/>
              </a:rPr>
              <a:t>Disadvantages</a:t>
            </a:r>
            <a:r>
              <a:rPr lang="en-US" sz="1600" dirty="0">
                <a:effectLst/>
                <a:latin typeface="Bookman Old Style" panose="02050604050505020204" pitchFamily="18" charset="0"/>
                <a:ea typeface="Calibri" panose="020F0502020204030204" pitchFamily="34" charset="0"/>
                <a:cs typeface="Times New Roman" panose="02020603050405020304" pitchFamily="18" charset="0"/>
              </a:rPr>
              <a:t>:</a:t>
            </a:r>
          </a:p>
          <a:p>
            <a:pPr marL="342900" marR="0" lvl="0" indent="-342900" algn="just">
              <a:lnSpc>
                <a:spcPct val="150000"/>
              </a:lnSpc>
              <a:spcBef>
                <a:spcPts val="0"/>
              </a:spcBef>
              <a:spcAft>
                <a:spcPts val="1000"/>
              </a:spcAft>
              <a:buFont typeface="Symbol" panose="05050102010706020507" pitchFamily="18" charset="2"/>
              <a:buChar char=""/>
            </a:pPr>
            <a:r>
              <a:rPr lang="en-US" sz="1600" dirty="0">
                <a:effectLst/>
                <a:latin typeface="Bookman Old Style" panose="02050604050505020204" pitchFamily="18" charset="0"/>
                <a:ea typeface="Times New Roman" panose="02020603050405020304" pitchFamily="18" charset="0"/>
                <a:cs typeface="Times New Roman" panose="02020603050405020304" pitchFamily="18" charset="0"/>
              </a:rPr>
              <a:t>Low security</a:t>
            </a:r>
          </a:p>
          <a:p>
            <a:endParaRPr lang="en-IN" sz="1400" dirty="0">
              <a:latin typeface="Bookman Old Style" panose="02050604050505020204" pitchFamily="18" charset="0"/>
            </a:endParaRPr>
          </a:p>
        </p:txBody>
      </p:sp>
    </p:spTree>
    <p:extLst>
      <p:ext uri="{BB962C8B-B14F-4D97-AF65-F5344CB8AC3E}">
        <p14:creationId xmlns:p14="http://schemas.microsoft.com/office/powerpoint/2010/main" val="30217753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A95E65C-8745-8726-7A5F-42497009A680}"/>
              </a:ext>
            </a:extLst>
          </p:cNvPr>
          <p:cNvSpPr txBox="1"/>
          <p:nvPr/>
        </p:nvSpPr>
        <p:spPr>
          <a:xfrm>
            <a:off x="316212" y="393775"/>
            <a:ext cx="10571747" cy="369332"/>
          </a:xfrm>
          <a:prstGeom prst="rect">
            <a:avLst/>
          </a:prstGeom>
          <a:noFill/>
        </p:spPr>
        <p:txBody>
          <a:bodyPr wrap="square" rtlCol="0">
            <a:spAutoFit/>
          </a:bodyPr>
          <a:lstStyle/>
          <a:p>
            <a:r>
              <a:rPr lang="en-IN" b="1" u="sng" dirty="0">
                <a:latin typeface="Bookman Old Style" panose="02050604050505020204" pitchFamily="18" charset="0"/>
              </a:rPr>
              <a:t>PROPOSED SYSTEMS</a:t>
            </a:r>
            <a:r>
              <a:rPr lang="en-IN" b="1" dirty="0">
                <a:latin typeface="Bookman Old Style" panose="02050604050505020204" pitchFamily="18" charset="0"/>
              </a:rPr>
              <a:t> :</a:t>
            </a:r>
          </a:p>
        </p:txBody>
      </p:sp>
      <p:sp>
        <p:nvSpPr>
          <p:cNvPr id="3" name="TextBox 2">
            <a:extLst>
              <a:ext uri="{FF2B5EF4-FFF2-40B4-BE49-F238E27FC236}">
                <a16:creationId xmlns:a16="http://schemas.microsoft.com/office/drawing/2014/main" id="{13D2A7B7-A67E-F08E-EA6F-CE5E409B71E7}"/>
              </a:ext>
            </a:extLst>
          </p:cNvPr>
          <p:cNvSpPr txBox="1"/>
          <p:nvPr/>
        </p:nvSpPr>
        <p:spPr>
          <a:xfrm>
            <a:off x="316212" y="940212"/>
            <a:ext cx="11004884" cy="4287777"/>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Bookman Old Style" panose="02050604050505020204" pitchFamily="18" charset="0"/>
              </a:rPr>
              <a:t>We used Twitter data to find out which accounts are bots. First, we picked the most important data using the Spearman correlation method.</a:t>
            </a:r>
          </a:p>
          <a:p>
            <a:pPr marL="285750" indent="-285750">
              <a:buFont typeface="Arial" panose="020B0604020202020204" pitchFamily="34" charset="0"/>
              <a:buChar char="•"/>
            </a:pPr>
            <a:r>
              <a:rPr lang="en-US" sz="1600" dirty="0">
                <a:latin typeface="Bookman Old Style" panose="02050604050505020204" pitchFamily="18" charset="0"/>
              </a:rPr>
              <a:t>Then, we used Logistic Regression, a machine learning method, to predict if an account is a bot or not (output is 0 for not a bot, 1 for a bot).</a:t>
            </a:r>
          </a:p>
          <a:p>
            <a:pPr marL="285750" indent="-285750">
              <a:buFont typeface="Arial" panose="020B0604020202020204" pitchFamily="34" charset="0"/>
              <a:buChar char="•"/>
            </a:pPr>
            <a:r>
              <a:rPr lang="en-US" sz="1600" dirty="0">
                <a:latin typeface="Bookman Old Style" panose="02050604050505020204" pitchFamily="18" charset="0"/>
              </a:rPr>
              <a:t>We cleaned the data using pandas, a Python tool, and removed zero values. The model was trained with sample data and tested using real Twitter data.</a:t>
            </a:r>
          </a:p>
          <a:p>
            <a:pPr marL="285750" indent="-285750">
              <a:buFont typeface="Arial" panose="020B0604020202020204" pitchFamily="34" charset="0"/>
              <a:buChar char="•"/>
            </a:pPr>
            <a:r>
              <a:rPr lang="en-US" sz="1600" dirty="0">
                <a:latin typeface="Bookman Old Style" panose="02050604050505020204" pitchFamily="18" charset="0"/>
              </a:rPr>
              <a:t>Our model could also tell if a URL was malicious, with 73</a:t>
            </a:r>
            <a:r>
              <a:rPr lang="en-US" sz="1600" b="1" dirty="0">
                <a:latin typeface="Bookman Old Style" panose="02050604050505020204" pitchFamily="18" charset="0"/>
              </a:rPr>
              <a:t>% </a:t>
            </a:r>
            <a:r>
              <a:rPr lang="en-US" sz="1600" dirty="0">
                <a:latin typeface="Bookman Old Style" panose="02050604050505020204" pitchFamily="18" charset="0"/>
              </a:rPr>
              <a:t>accuracy.</a:t>
            </a:r>
          </a:p>
          <a:p>
            <a:pPr marL="285750" indent="-285750">
              <a:buFont typeface="Arial" panose="020B0604020202020204" pitchFamily="34" charset="0"/>
              <a:buChar char="•"/>
            </a:pPr>
            <a:r>
              <a:rPr lang="en-US" sz="1600" dirty="0">
                <a:latin typeface="Bookman Old Style" panose="02050604050505020204" pitchFamily="18" charset="0"/>
              </a:rPr>
              <a:t>Overall, the Logistic Regression model gave 74% accuracy in detecting bots. This shows our method works well with real-time Twitter data.</a:t>
            </a:r>
            <a:endParaRPr lang="en-US" sz="1600" b="1" dirty="0">
              <a:latin typeface="Bookman Old Style" panose="02050604050505020204" pitchFamily="18" charset="0"/>
              <a:ea typeface="Calibri" panose="020F0502020204030204" pitchFamily="34" charset="0"/>
              <a:cs typeface="Times New Roman" panose="02020603050405020304" pitchFamily="18" charset="0"/>
            </a:endParaRPr>
          </a:p>
          <a:p>
            <a:pPr marL="0" marR="0" algn="just">
              <a:lnSpc>
                <a:spcPct val="150000"/>
              </a:lnSpc>
              <a:spcBef>
                <a:spcPts val="0"/>
              </a:spcBef>
              <a:spcAft>
                <a:spcPts val="1000"/>
              </a:spcAft>
            </a:pPr>
            <a:r>
              <a:rPr lang="en-US" sz="1600" b="1" dirty="0">
                <a:effectLst/>
                <a:latin typeface="Bookman Old Style" panose="02050604050505020204" pitchFamily="18" charset="0"/>
                <a:ea typeface="Calibri" panose="020F0502020204030204" pitchFamily="34" charset="0"/>
                <a:cs typeface="Times New Roman" panose="02020603050405020304" pitchFamily="18" charset="0"/>
              </a:rPr>
              <a:t>Advantages:</a:t>
            </a:r>
            <a:endParaRPr lang="en-US" sz="1600" dirty="0">
              <a:effectLst/>
              <a:latin typeface="Bookman Old Style" panose="02050604050505020204" pitchFamily="18"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Symbol" panose="05050102010706020507" pitchFamily="18" charset="2"/>
              <a:buChar char=""/>
            </a:pPr>
            <a:r>
              <a:rPr lang="en-US" sz="1600" dirty="0">
                <a:effectLst/>
                <a:latin typeface="Bookman Old Style" panose="02050604050505020204" pitchFamily="18" charset="0"/>
                <a:ea typeface="Times New Roman" panose="02020603050405020304" pitchFamily="18" charset="0"/>
                <a:cs typeface="Times New Roman" panose="02020603050405020304" pitchFamily="18" charset="0"/>
              </a:rPr>
              <a:t>High security</a:t>
            </a:r>
          </a:p>
          <a:p>
            <a:pPr marL="342900" marR="0" lvl="0" indent="-342900" algn="just">
              <a:lnSpc>
                <a:spcPct val="150000"/>
              </a:lnSpc>
              <a:spcBef>
                <a:spcPts val="0"/>
              </a:spcBef>
              <a:spcAft>
                <a:spcPts val="0"/>
              </a:spcAft>
              <a:buFont typeface="Symbol" panose="05050102010706020507" pitchFamily="18" charset="2"/>
              <a:buChar char=""/>
            </a:pPr>
            <a:r>
              <a:rPr lang="en-US" sz="1600" dirty="0">
                <a:effectLst/>
                <a:latin typeface="Bookman Old Style" panose="02050604050505020204" pitchFamily="18" charset="0"/>
                <a:ea typeface="Times New Roman" panose="02020603050405020304" pitchFamily="18" charset="0"/>
                <a:cs typeface="Times New Roman" panose="02020603050405020304" pitchFamily="18" charset="0"/>
              </a:rPr>
              <a:t>High accuracy</a:t>
            </a:r>
          </a:p>
          <a:p>
            <a:pPr marL="342900" marR="0" lvl="0" indent="-342900" algn="just">
              <a:lnSpc>
                <a:spcPct val="150000"/>
              </a:lnSpc>
              <a:spcBef>
                <a:spcPts val="0"/>
              </a:spcBef>
              <a:spcAft>
                <a:spcPts val="1000"/>
              </a:spcAft>
              <a:buFont typeface="Symbol" panose="05050102010706020507" pitchFamily="18" charset="2"/>
              <a:buChar char=""/>
            </a:pPr>
            <a:r>
              <a:rPr lang="en-US" sz="1600" dirty="0">
                <a:effectLst/>
                <a:latin typeface="Bookman Old Style" panose="02050604050505020204" pitchFamily="18" charset="0"/>
                <a:ea typeface="Times New Roman" panose="02020603050405020304" pitchFamily="18" charset="0"/>
                <a:cs typeface="Times New Roman" panose="02020603050405020304" pitchFamily="18" charset="0"/>
              </a:rPr>
              <a:t>High efficiency</a:t>
            </a:r>
          </a:p>
          <a:p>
            <a:pPr marL="285750" indent="-285750">
              <a:lnSpc>
                <a:spcPct val="150000"/>
              </a:lnSpc>
              <a:buFont typeface="Arial" panose="020B0604020202020204" pitchFamily="34" charset="0"/>
              <a:buChar char="•"/>
            </a:pPr>
            <a:endParaRPr lang="en-US" sz="1200" dirty="0">
              <a:latin typeface="Bookman Old Style" panose="02050604050505020204" pitchFamily="18" charset="0"/>
            </a:endParaRPr>
          </a:p>
        </p:txBody>
      </p:sp>
    </p:spTree>
    <p:extLst>
      <p:ext uri="{BB962C8B-B14F-4D97-AF65-F5344CB8AC3E}">
        <p14:creationId xmlns:p14="http://schemas.microsoft.com/office/powerpoint/2010/main" val="40553326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97D754E-A3AC-A9FD-5690-53ABBE39339C}"/>
              </a:ext>
            </a:extLst>
          </p:cNvPr>
          <p:cNvSpPr txBox="1"/>
          <p:nvPr/>
        </p:nvSpPr>
        <p:spPr>
          <a:xfrm>
            <a:off x="-1326533" y="269407"/>
            <a:ext cx="11486147" cy="646331"/>
          </a:xfrm>
          <a:prstGeom prst="rect">
            <a:avLst/>
          </a:prstGeom>
          <a:noFill/>
        </p:spPr>
        <p:txBody>
          <a:bodyPr wrap="square" rtlCol="0">
            <a:spAutoFit/>
          </a:bodyPr>
          <a:lstStyle/>
          <a:p>
            <a:r>
              <a:rPr lang="en-US" sz="1800" b="1" i="0" strike="noStrike" cap="none" dirty="0">
                <a:solidFill>
                  <a:schemeClr val="dk1"/>
                </a:solidFill>
                <a:latin typeface="Bookman Old Style" panose="02050604050505020204" pitchFamily="18" charset="0"/>
                <a:ea typeface="Arial" panose="020B0604020202020204"/>
                <a:cs typeface="Arial" panose="020B0604020202020204"/>
                <a:sym typeface="Arial" panose="020B0604020202020204"/>
              </a:rPr>
              <a:t>                        </a:t>
            </a:r>
            <a:r>
              <a:rPr lang="en-US" sz="1800" b="1" i="0" u="sng" strike="noStrike" cap="none" dirty="0">
                <a:solidFill>
                  <a:schemeClr val="dk1"/>
                </a:solidFill>
                <a:latin typeface="Bookman Old Style" panose="02050604050505020204" pitchFamily="18" charset="0"/>
                <a:ea typeface="Arial" panose="020B0604020202020204"/>
                <a:cs typeface="Arial" panose="020B0604020202020204"/>
                <a:sym typeface="Arial" panose="020B0604020202020204"/>
              </a:rPr>
              <a:t>HARDWARE/SOFTWARE REQUIREMENTS</a:t>
            </a:r>
            <a:r>
              <a:rPr lang="en-US" sz="1800" b="1" i="0" u="none" strike="noStrike" cap="none" dirty="0">
                <a:solidFill>
                  <a:schemeClr val="dk1"/>
                </a:solidFill>
                <a:latin typeface="Bookman Old Style" panose="02050604050505020204" pitchFamily="18" charset="0"/>
                <a:ea typeface="Arial" panose="020B0604020202020204"/>
                <a:cs typeface="Arial" panose="020B0604020202020204"/>
                <a:sym typeface="Arial" panose="020B0604020202020204"/>
              </a:rPr>
              <a:t>:</a:t>
            </a:r>
            <a:br>
              <a:rPr lang="en-US" sz="1800" dirty="0"/>
            </a:br>
            <a:endParaRPr lang="en-IN" dirty="0"/>
          </a:p>
        </p:txBody>
      </p:sp>
      <p:sp>
        <p:nvSpPr>
          <p:cNvPr id="5" name="TextBox 4">
            <a:extLst>
              <a:ext uri="{FF2B5EF4-FFF2-40B4-BE49-F238E27FC236}">
                <a16:creationId xmlns:a16="http://schemas.microsoft.com/office/drawing/2014/main" id="{E39A2A1C-3470-48C2-3697-54E795E120FF}"/>
              </a:ext>
            </a:extLst>
          </p:cNvPr>
          <p:cNvSpPr txBox="1"/>
          <p:nvPr/>
        </p:nvSpPr>
        <p:spPr>
          <a:xfrm>
            <a:off x="577681" y="746056"/>
            <a:ext cx="10668000" cy="6042680"/>
          </a:xfrm>
          <a:prstGeom prst="rect">
            <a:avLst/>
          </a:prstGeom>
          <a:noFill/>
        </p:spPr>
        <p:txBody>
          <a:bodyPr wrap="square" rtlCol="0">
            <a:spAutoFit/>
          </a:bodyPr>
          <a:lstStyle/>
          <a:p>
            <a:pPr marL="0" marR="0" algn="just">
              <a:lnSpc>
                <a:spcPct val="150000"/>
              </a:lnSpc>
              <a:spcBef>
                <a:spcPts val="1200"/>
              </a:spcBef>
              <a:spcAft>
                <a:spcPts val="1000"/>
              </a:spcAft>
            </a:pPr>
            <a:r>
              <a:rPr lang="en-US" sz="1400" b="1" dirty="0">
                <a:effectLst/>
                <a:latin typeface="Bookman Old Style" panose="02050604050505020204" pitchFamily="18" charset="0"/>
                <a:ea typeface="Calibri" panose="020F0502020204030204" pitchFamily="34" charset="0"/>
              </a:rPr>
              <a:t>HARDWARE REQUIREMENTS:</a:t>
            </a:r>
            <a:endParaRPr lang="en-US" sz="1400" dirty="0">
              <a:effectLst/>
              <a:latin typeface="Bookman Old Style" panose="02050604050505020204" pitchFamily="18" charset="0"/>
              <a:ea typeface="Calibri" panose="020F0502020204030204" pitchFamily="34" charset="0"/>
            </a:endParaRPr>
          </a:p>
          <a:p>
            <a:pPr marL="342900" marR="0" lvl="0" indent="-342900" algn="just">
              <a:lnSpc>
                <a:spcPct val="150000"/>
              </a:lnSpc>
              <a:spcBef>
                <a:spcPts val="1200"/>
              </a:spcBef>
              <a:spcAft>
                <a:spcPts val="1000"/>
              </a:spcAft>
              <a:buFont typeface="Symbol" panose="05050102010706020507" pitchFamily="18" charset="2"/>
              <a:buChar char=""/>
            </a:pPr>
            <a:r>
              <a:rPr lang="en-US" sz="1400" b="0" kern="0" dirty="0">
                <a:effectLst/>
                <a:latin typeface="Bookman Old Style" panose="02050604050505020204" pitchFamily="18" charset="0"/>
                <a:ea typeface="Times New Roman" panose="02020603050405020304" pitchFamily="18" charset="0"/>
                <a:cs typeface="Times New Roman" panose="02020603050405020304" pitchFamily="18" charset="0"/>
              </a:rPr>
              <a:t>Processor			-	Intel i3(min)</a:t>
            </a:r>
            <a:endParaRPr lang="en-US" sz="1400" b="1" kern="0" dirty="0">
              <a:effectLst/>
              <a:latin typeface="Bookman Old Style" panose="02050604050505020204" pitchFamily="18" charset="0"/>
              <a:ea typeface="Times New Roman" panose="02020603050405020304" pitchFamily="18" charset="0"/>
              <a:cs typeface="Times New Roman" panose="02020603050405020304" pitchFamily="18" charset="0"/>
            </a:endParaRPr>
          </a:p>
          <a:p>
            <a:pPr marL="342900" marR="0" lvl="0" indent="-342900" algn="just">
              <a:lnSpc>
                <a:spcPct val="150000"/>
              </a:lnSpc>
              <a:spcBef>
                <a:spcPts val="1200"/>
              </a:spcBef>
              <a:spcAft>
                <a:spcPts val="0"/>
              </a:spcAft>
              <a:buFont typeface="Symbol" panose="05050102010706020507" pitchFamily="18" charset="2"/>
              <a:buChar char=""/>
            </a:pPr>
            <a:r>
              <a:rPr lang="en-US" sz="1400" dirty="0">
                <a:effectLst/>
                <a:latin typeface="Bookman Old Style" panose="02050604050505020204" pitchFamily="18" charset="0"/>
                <a:ea typeface="Times New Roman" panose="02020603050405020304" pitchFamily="18" charset="0"/>
                <a:cs typeface="Times New Roman" panose="02020603050405020304" pitchFamily="18" charset="0"/>
              </a:rPr>
              <a:t>Speed				-    	1.1 </a:t>
            </a:r>
            <a:r>
              <a:rPr lang="en-US" sz="1400" dirty="0" err="1">
                <a:effectLst/>
                <a:latin typeface="Bookman Old Style" panose="02050604050505020204" pitchFamily="18" charset="0"/>
                <a:ea typeface="Times New Roman" panose="02020603050405020304" pitchFamily="18" charset="0"/>
                <a:cs typeface="Times New Roman" panose="02020603050405020304" pitchFamily="18" charset="0"/>
              </a:rPr>
              <a:t>Ghz</a:t>
            </a:r>
            <a:endParaRPr lang="en-US" sz="1400" dirty="0">
              <a:effectLst/>
              <a:latin typeface="Bookman Old Style" panose="02050604050505020204" pitchFamily="18" charset="0"/>
              <a:ea typeface="Times New Roman" panose="02020603050405020304" pitchFamily="18" charset="0"/>
              <a:cs typeface="Times New Roman" panose="02020603050405020304" pitchFamily="18" charset="0"/>
            </a:endParaRPr>
          </a:p>
          <a:p>
            <a:pPr marL="342900" marR="0" lvl="0" indent="-342900" algn="just">
              <a:lnSpc>
                <a:spcPct val="150000"/>
              </a:lnSpc>
              <a:spcBef>
                <a:spcPts val="1200"/>
              </a:spcBef>
              <a:spcAft>
                <a:spcPts val="0"/>
              </a:spcAft>
              <a:buFont typeface="Symbol" panose="05050102010706020507" pitchFamily="18" charset="2"/>
              <a:buChar char=""/>
            </a:pPr>
            <a:r>
              <a:rPr lang="en-US" sz="1400" dirty="0">
                <a:effectLst/>
                <a:latin typeface="Bookman Old Style" panose="02050604050505020204" pitchFamily="18" charset="0"/>
                <a:ea typeface="Times New Roman" panose="02020603050405020304" pitchFamily="18" charset="0"/>
                <a:cs typeface="Times New Roman" panose="02020603050405020304" pitchFamily="18" charset="0"/>
              </a:rPr>
              <a:t>RAM				-    	4GB(min)</a:t>
            </a:r>
          </a:p>
          <a:p>
            <a:pPr marL="342900" marR="0" lvl="0" indent="-342900" algn="just">
              <a:lnSpc>
                <a:spcPct val="150000"/>
              </a:lnSpc>
              <a:spcBef>
                <a:spcPts val="1200"/>
              </a:spcBef>
              <a:spcAft>
                <a:spcPts val="0"/>
              </a:spcAft>
              <a:buFont typeface="Symbol" panose="05050102010706020507" pitchFamily="18" charset="2"/>
              <a:buChar char=""/>
            </a:pPr>
            <a:r>
              <a:rPr lang="en-US" sz="1400" dirty="0">
                <a:effectLst/>
                <a:latin typeface="Bookman Old Style" panose="02050604050505020204" pitchFamily="18" charset="0"/>
                <a:ea typeface="Times New Roman" panose="02020603050405020304" pitchFamily="18" charset="0"/>
                <a:cs typeface="Times New Roman" panose="02020603050405020304" pitchFamily="18" charset="0"/>
              </a:rPr>
              <a:t>Hard Disk			-   	500 GB</a:t>
            </a:r>
          </a:p>
          <a:p>
            <a:pPr marL="342900" marR="0" lvl="0" indent="-342900" algn="just">
              <a:lnSpc>
                <a:spcPct val="150000"/>
              </a:lnSpc>
              <a:spcBef>
                <a:spcPts val="1200"/>
              </a:spcBef>
              <a:spcAft>
                <a:spcPts val="0"/>
              </a:spcAft>
              <a:buFont typeface="Symbol" panose="05050102010706020507" pitchFamily="18" charset="2"/>
              <a:buChar char=""/>
            </a:pPr>
            <a:r>
              <a:rPr lang="en-US" sz="1400" dirty="0">
                <a:effectLst/>
                <a:latin typeface="Bookman Old Style" panose="02050604050505020204" pitchFamily="18" charset="0"/>
                <a:ea typeface="Times New Roman" panose="02020603050405020304" pitchFamily="18" charset="0"/>
                <a:cs typeface="Times New Roman" panose="02020603050405020304" pitchFamily="18" charset="0"/>
              </a:rPr>
              <a:t>Key Board			-    	Standard Windows Keyboard</a:t>
            </a:r>
          </a:p>
          <a:p>
            <a:pPr marL="342900" marR="0" lvl="0" indent="-342900" algn="just">
              <a:lnSpc>
                <a:spcPct val="150000"/>
              </a:lnSpc>
              <a:spcBef>
                <a:spcPts val="1200"/>
              </a:spcBef>
              <a:spcAft>
                <a:spcPts val="0"/>
              </a:spcAft>
              <a:buFont typeface="Symbol" panose="05050102010706020507" pitchFamily="18" charset="2"/>
              <a:buChar char=""/>
            </a:pPr>
            <a:r>
              <a:rPr lang="en-US" sz="1400" dirty="0">
                <a:effectLst/>
                <a:latin typeface="Bookman Old Style" panose="02050604050505020204" pitchFamily="18" charset="0"/>
                <a:ea typeface="Times New Roman" panose="02020603050405020304" pitchFamily="18" charset="0"/>
                <a:cs typeface="Times New Roman" panose="02020603050405020304" pitchFamily="18" charset="0"/>
              </a:rPr>
              <a:t>Mouse				-    	Two or Three Button Mouse</a:t>
            </a:r>
          </a:p>
          <a:p>
            <a:pPr marL="342900" marR="0" lvl="0" indent="-342900" algn="just">
              <a:lnSpc>
                <a:spcPct val="150000"/>
              </a:lnSpc>
              <a:spcBef>
                <a:spcPts val="1200"/>
              </a:spcBef>
              <a:spcAft>
                <a:spcPts val="1000"/>
              </a:spcAft>
              <a:buFont typeface="Symbol" panose="05050102010706020507" pitchFamily="18" charset="2"/>
              <a:buChar char=""/>
            </a:pPr>
            <a:r>
              <a:rPr lang="en-US" sz="1400" dirty="0">
                <a:effectLst/>
                <a:latin typeface="Bookman Old Style" panose="02050604050505020204" pitchFamily="18" charset="0"/>
                <a:ea typeface="Times New Roman" panose="02020603050405020304" pitchFamily="18" charset="0"/>
                <a:cs typeface="Times New Roman" panose="02020603050405020304" pitchFamily="18" charset="0"/>
              </a:rPr>
              <a:t>Monitor			-    	SVGA</a:t>
            </a:r>
          </a:p>
          <a:p>
            <a:pPr marL="0" marR="0" algn="just">
              <a:lnSpc>
                <a:spcPct val="150000"/>
              </a:lnSpc>
              <a:spcBef>
                <a:spcPts val="1200"/>
              </a:spcBef>
              <a:spcAft>
                <a:spcPts val="1000"/>
              </a:spcAft>
            </a:pPr>
            <a:r>
              <a:rPr lang="en-US" sz="1400" b="1" dirty="0">
                <a:effectLst/>
                <a:latin typeface="Bookman Old Style" panose="02050604050505020204" pitchFamily="18" charset="0"/>
                <a:ea typeface="Calibri" panose="020F0502020204030204" pitchFamily="34" charset="0"/>
              </a:rPr>
              <a:t>SOFTWARE REQUIREMENTS:</a:t>
            </a:r>
            <a:endParaRPr lang="en-US" sz="1400" dirty="0">
              <a:effectLst/>
              <a:latin typeface="Bookman Old Style" panose="02050604050505020204" pitchFamily="18" charset="0"/>
              <a:ea typeface="Calibri" panose="020F0502020204030204" pitchFamily="34" charset="0"/>
            </a:endParaRPr>
          </a:p>
          <a:p>
            <a:pPr marL="342900" marR="0" lvl="0" indent="-342900" algn="just">
              <a:lnSpc>
                <a:spcPct val="150000"/>
              </a:lnSpc>
              <a:spcBef>
                <a:spcPts val="1200"/>
              </a:spcBef>
              <a:spcAft>
                <a:spcPts val="0"/>
              </a:spcAft>
              <a:buFont typeface="Symbol" panose="05050102010706020507" pitchFamily="18" charset="2"/>
              <a:buChar char=""/>
            </a:pPr>
            <a:r>
              <a:rPr lang="en-US" sz="1400" dirty="0">
                <a:effectLst/>
                <a:latin typeface="Bookman Old Style" panose="02050604050505020204" pitchFamily="18" charset="0"/>
                <a:ea typeface="Times New Roman" panose="02020603050405020304" pitchFamily="18" charset="0"/>
                <a:cs typeface="Times New Roman" panose="02020603050405020304" pitchFamily="18" charset="0"/>
              </a:rPr>
              <a:t>Operating System		-	Windows10(min)</a:t>
            </a:r>
          </a:p>
          <a:p>
            <a:pPr marL="342900" marR="0" lvl="0" indent="-342900" algn="just">
              <a:lnSpc>
                <a:spcPct val="150000"/>
              </a:lnSpc>
              <a:spcBef>
                <a:spcPts val="1200"/>
              </a:spcBef>
              <a:spcAft>
                <a:spcPts val="1000"/>
              </a:spcAft>
              <a:buFont typeface="Symbol" panose="05050102010706020507" pitchFamily="18" charset="2"/>
              <a:buChar char=""/>
            </a:pPr>
            <a:r>
              <a:rPr lang="en-US" sz="1400" dirty="0">
                <a:effectLst/>
                <a:latin typeface="Bookman Old Style" panose="02050604050505020204" pitchFamily="18" charset="0"/>
                <a:ea typeface="Times New Roman" panose="02020603050405020304" pitchFamily="18" charset="0"/>
                <a:cs typeface="Times New Roman" panose="02020603050405020304" pitchFamily="18" charset="0"/>
              </a:rPr>
              <a:t>Programming Language  	-	Python 3.7</a:t>
            </a:r>
          </a:p>
          <a:p>
            <a:endParaRPr lang="en-IN" sz="1400" dirty="0">
              <a:latin typeface="Bookman Old Style" panose="02050604050505020204" pitchFamily="18" charset="0"/>
            </a:endParaRPr>
          </a:p>
        </p:txBody>
      </p:sp>
    </p:spTree>
    <p:extLst>
      <p:ext uri="{BB962C8B-B14F-4D97-AF65-F5344CB8AC3E}">
        <p14:creationId xmlns:p14="http://schemas.microsoft.com/office/powerpoint/2010/main" val="23948918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9F1060A-2221-89A2-085C-862D61E5EB43}"/>
              </a:ext>
            </a:extLst>
          </p:cNvPr>
          <p:cNvSpPr txBox="1"/>
          <p:nvPr/>
        </p:nvSpPr>
        <p:spPr>
          <a:xfrm>
            <a:off x="829558" y="509047"/>
            <a:ext cx="3591613" cy="369332"/>
          </a:xfrm>
          <a:prstGeom prst="rect">
            <a:avLst/>
          </a:prstGeom>
          <a:noFill/>
        </p:spPr>
        <p:txBody>
          <a:bodyPr wrap="square" rtlCol="0">
            <a:spAutoFit/>
          </a:bodyPr>
          <a:lstStyle/>
          <a:p>
            <a:r>
              <a:rPr lang="en-US" b="1" u="sng" dirty="0">
                <a:latin typeface="Bookman Old Style" panose="02050604050505020204" pitchFamily="18" charset="0"/>
              </a:rPr>
              <a:t>ARCHITECTURE:</a:t>
            </a:r>
          </a:p>
        </p:txBody>
      </p:sp>
      <p:pic>
        <p:nvPicPr>
          <p:cNvPr id="3" name="Picture 2">
            <a:extLst>
              <a:ext uri="{FF2B5EF4-FFF2-40B4-BE49-F238E27FC236}">
                <a16:creationId xmlns:a16="http://schemas.microsoft.com/office/drawing/2014/main" id="{A3D7F37E-8DDF-93C2-D3A2-9BC54859CDDE}"/>
              </a:ext>
            </a:extLst>
          </p:cNvPr>
          <p:cNvPicPr>
            <a:picLocks noChangeAspect="1"/>
          </p:cNvPicPr>
          <p:nvPr/>
        </p:nvPicPr>
        <p:blipFill rotWithShape="1">
          <a:blip r:embed="rId2">
            <a:extLst>
              <a:ext uri="{28A0092B-C50C-407E-A947-70E740481C1C}">
                <a14:useLocalDpi xmlns:a14="http://schemas.microsoft.com/office/drawing/2010/main" val="0"/>
              </a:ext>
            </a:extLst>
          </a:blip>
          <a:srcRect b="8421"/>
          <a:stretch/>
        </p:blipFill>
        <p:spPr bwMode="auto">
          <a:xfrm>
            <a:off x="2117979" y="1480008"/>
            <a:ext cx="7095060" cy="3107065"/>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2369490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87B29FA-8784-8F84-12DB-35A292BC369F}"/>
              </a:ext>
            </a:extLst>
          </p:cNvPr>
          <p:cNvSpPr txBox="1"/>
          <p:nvPr/>
        </p:nvSpPr>
        <p:spPr>
          <a:xfrm>
            <a:off x="593889" y="458044"/>
            <a:ext cx="4223208" cy="369332"/>
          </a:xfrm>
          <a:prstGeom prst="rect">
            <a:avLst/>
          </a:prstGeom>
          <a:noFill/>
        </p:spPr>
        <p:txBody>
          <a:bodyPr wrap="square" rtlCol="0">
            <a:spAutoFit/>
          </a:bodyPr>
          <a:lstStyle/>
          <a:p>
            <a:r>
              <a:rPr lang="en-US" b="1" u="sng" dirty="0">
                <a:latin typeface="Bookman Old Style" panose="02050604050505020204" pitchFamily="18" charset="0"/>
              </a:rPr>
              <a:t>MODULES:</a:t>
            </a:r>
          </a:p>
        </p:txBody>
      </p:sp>
      <p:sp>
        <p:nvSpPr>
          <p:cNvPr id="3" name="TextBox 2">
            <a:extLst>
              <a:ext uri="{FF2B5EF4-FFF2-40B4-BE49-F238E27FC236}">
                <a16:creationId xmlns:a16="http://schemas.microsoft.com/office/drawing/2014/main" id="{317C34AB-DEC5-6E86-836B-563796CCED8C}"/>
              </a:ext>
            </a:extLst>
          </p:cNvPr>
          <p:cNvSpPr txBox="1"/>
          <p:nvPr/>
        </p:nvSpPr>
        <p:spPr>
          <a:xfrm>
            <a:off x="593889" y="952106"/>
            <a:ext cx="10840824" cy="5158785"/>
          </a:xfrm>
          <a:prstGeom prst="rect">
            <a:avLst/>
          </a:prstGeom>
          <a:noFill/>
        </p:spPr>
        <p:txBody>
          <a:bodyPr wrap="square" rtlCol="0">
            <a:spAutoFit/>
          </a:bodyPr>
          <a:lstStyle/>
          <a:p>
            <a:pPr marL="0" marR="220345" algn="just">
              <a:lnSpc>
                <a:spcPct val="148000"/>
              </a:lnSpc>
              <a:spcBef>
                <a:spcPts val="0"/>
              </a:spcBef>
              <a:spcAft>
                <a:spcPts val="25"/>
              </a:spcAft>
            </a:pPr>
            <a:r>
              <a:rPr lang="en-US" sz="1400" b="1" dirty="0">
                <a:solidFill>
                  <a:srgbClr val="000000"/>
                </a:solidFill>
                <a:effectLst/>
                <a:latin typeface="Bookman Old Style" panose="02050604050505020204" pitchFamily="18" charset="0"/>
                <a:ea typeface="Times New Roman" panose="02020603050405020304" pitchFamily="18" charset="0"/>
                <a:cs typeface="Times New Roman" panose="02020603050405020304" pitchFamily="18" charset="0"/>
              </a:rPr>
              <a:t>1. Tweet Extraction Module</a:t>
            </a:r>
            <a:endParaRPr lang="en-US" sz="1400" dirty="0">
              <a:effectLst/>
              <a:latin typeface="Bookman Old Style" panose="02050604050505020204" pitchFamily="18" charset="0"/>
              <a:ea typeface="Calibri" panose="020F0502020204030204" pitchFamily="34" charset="0"/>
              <a:cs typeface="Times New Roman" panose="02020603050405020304" pitchFamily="18" charset="0"/>
            </a:endParaRPr>
          </a:p>
          <a:p>
            <a:pPr marL="0" marR="220345" algn="just">
              <a:lnSpc>
                <a:spcPct val="148000"/>
              </a:lnSpc>
              <a:spcBef>
                <a:spcPts val="0"/>
              </a:spcBef>
              <a:spcAft>
                <a:spcPts val="25"/>
              </a:spcAft>
            </a:pPr>
            <a:r>
              <a:rPr lang="en-US" sz="1400" b="1" dirty="0">
                <a:solidFill>
                  <a:srgbClr val="000000"/>
                </a:solidFill>
                <a:effectLst/>
                <a:latin typeface="Bookman Old Style" panose="02050604050505020204" pitchFamily="18" charset="0"/>
                <a:ea typeface="Times New Roman" panose="02020603050405020304" pitchFamily="18" charset="0"/>
                <a:cs typeface="Times New Roman" panose="02020603050405020304" pitchFamily="18" charset="0"/>
              </a:rPr>
              <a:t>Purpose:</a:t>
            </a:r>
            <a:r>
              <a:rPr lang="en-US" sz="1400" dirty="0">
                <a:solidFill>
                  <a:srgbClr val="000000"/>
                </a:solidFill>
                <a:effectLst/>
                <a:latin typeface="Bookman Old Style" panose="02050604050505020204" pitchFamily="18" charset="0"/>
                <a:ea typeface="Times New Roman" panose="02020603050405020304" pitchFamily="18" charset="0"/>
                <a:cs typeface="Times New Roman" panose="02020603050405020304" pitchFamily="18" charset="0"/>
              </a:rPr>
              <a:t> To gather relevant data from Twitter for analysis.</a:t>
            </a:r>
            <a:endParaRPr lang="en-US" sz="1400" dirty="0">
              <a:effectLst/>
              <a:latin typeface="Bookman Old Style" panose="02050604050505020204" pitchFamily="18" charset="0"/>
              <a:ea typeface="Calibri" panose="020F0502020204030204" pitchFamily="34" charset="0"/>
              <a:cs typeface="Times New Roman" panose="02020603050405020304" pitchFamily="18" charset="0"/>
            </a:endParaRPr>
          </a:p>
          <a:p>
            <a:pPr marL="0" marR="220345" algn="just">
              <a:lnSpc>
                <a:spcPct val="148000"/>
              </a:lnSpc>
              <a:spcBef>
                <a:spcPts val="0"/>
              </a:spcBef>
              <a:spcAft>
                <a:spcPts val="25"/>
              </a:spcAft>
            </a:pPr>
            <a:r>
              <a:rPr lang="en-US" sz="1400" b="1" dirty="0">
                <a:solidFill>
                  <a:srgbClr val="000000"/>
                </a:solidFill>
                <a:effectLst/>
                <a:latin typeface="Bookman Old Style" panose="02050604050505020204" pitchFamily="18" charset="0"/>
                <a:ea typeface="Times New Roman" panose="02020603050405020304" pitchFamily="18" charset="0"/>
                <a:cs typeface="Times New Roman" panose="02020603050405020304" pitchFamily="18" charset="0"/>
              </a:rPr>
              <a:t>Explanation:</a:t>
            </a:r>
            <a:endParaRPr lang="en-US" sz="1400" dirty="0">
              <a:effectLst/>
              <a:latin typeface="Bookman Old Style" panose="02050604050505020204" pitchFamily="18" charset="0"/>
              <a:ea typeface="Calibri" panose="020F0502020204030204" pitchFamily="34" charset="0"/>
              <a:cs typeface="Times New Roman" panose="02020603050405020304" pitchFamily="18" charset="0"/>
            </a:endParaRPr>
          </a:p>
          <a:p>
            <a:pPr marL="0" marR="220345" algn="just">
              <a:lnSpc>
                <a:spcPct val="148000"/>
              </a:lnSpc>
              <a:spcBef>
                <a:spcPts val="0"/>
              </a:spcBef>
              <a:spcAft>
                <a:spcPts val="25"/>
              </a:spcAft>
            </a:pPr>
            <a:r>
              <a:rPr lang="en-US" sz="1400" dirty="0">
                <a:solidFill>
                  <a:srgbClr val="000000"/>
                </a:solidFill>
                <a:effectLst/>
                <a:latin typeface="Bookman Old Style" panose="02050604050505020204" pitchFamily="18" charset="0"/>
                <a:ea typeface="Times New Roman" panose="02020603050405020304" pitchFamily="18" charset="0"/>
                <a:cs typeface="Times New Roman" panose="02020603050405020304" pitchFamily="18" charset="0"/>
              </a:rPr>
              <a:t>This module uses the Twitter API to extract tweets and associated data.</a:t>
            </a:r>
            <a:endParaRPr lang="en-US" sz="1400" dirty="0">
              <a:effectLst/>
              <a:latin typeface="Bookman Old Style" panose="02050604050505020204" pitchFamily="18" charset="0"/>
              <a:ea typeface="Calibri" panose="020F0502020204030204" pitchFamily="34" charset="0"/>
              <a:cs typeface="Times New Roman" panose="02020603050405020304" pitchFamily="18" charset="0"/>
            </a:endParaRPr>
          </a:p>
          <a:p>
            <a:pPr marL="0" marR="220345" algn="just">
              <a:lnSpc>
                <a:spcPct val="148000"/>
              </a:lnSpc>
              <a:spcBef>
                <a:spcPts val="0"/>
              </a:spcBef>
              <a:spcAft>
                <a:spcPts val="25"/>
              </a:spcAft>
            </a:pPr>
            <a:r>
              <a:rPr lang="en-US" sz="1400" dirty="0">
                <a:solidFill>
                  <a:srgbClr val="000000"/>
                </a:solidFill>
                <a:effectLst/>
                <a:latin typeface="Bookman Old Style" panose="02050604050505020204" pitchFamily="18" charset="0"/>
                <a:ea typeface="Times New Roman" panose="02020603050405020304" pitchFamily="18" charset="0"/>
                <a:cs typeface="Times New Roman" panose="02020603050405020304" pitchFamily="18" charset="0"/>
              </a:rPr>
              <a:t>It targets tweets that contain URLs, mentions, and hashtags, as these are commonly used by bots.</a:t>
            </a:r>
          </a:p>
          <a:p>
            <a:pPr marL="0" marR="220345" algn="just">
              <a:lnSpc>
                <a:spcPct val="148000"/>
              </a:lnSpc>
              <a:spcBef>
                <a:spcPts val="0"/>
              </a:spcBef>
              <a:spcAft>
                <a:spcPts val="25"/>
              </a:spcAft>
            </a:pPr>
            <a:r>
              <a:rPr lang="en-US" sz="1400" b="1" dirty="0">
                <a:solidFill>
                  <a:srgbClr val="000000"/>
                </a:solidFill>
                <a:effectLst/>
                <a:latin typeface="Bookman Old Style" panose="02050604050505020204" pitchFamily="18" charset="0"/>
                <a:ea typeface="Times New Roman" panose="02020603050405020304" pitchFamily="18" charset="0"/>
                <a:cs typeface="Times New Roman" panose="02020603050405020304" pitchFamily="18" charset="0"/>
              </a:rPr>
              <a:t>2. Recognize Twitter Bots Using Machine Learning</a:t>
            </a:r>
            <a:endParaRPr lang="en-US" sz="1400" dirty="0">
              <a:effectLst/>
              <a:latin typeface="Bookman Old Style" panose="02050604050505020204" pitchFamily="18" charset="0"/>
              <a:ea typeface="Calibri" panose="020F0502020204030204" pitchFamily="34" charset="0"/>
              <a:cs typeface="Times New Roman" panose="02020603050405020304" pitchFamily="18" charset="0"/>
            </a:endParaRPr>
          </a:p>
          <a:p>
            <a:pPr marL="0" marR="220345" algn="just">
              <a:lnSpc>
                <a:spcPct val="148000"/>
              </a:lnSpc>
              <a:spcBef>
                <a:spcPts val="0"/>
              </a:spcBef>
              <a:spcAft>
                <a:spcPts val="25"/>
              </a:spcAft>
            </a:pPr>
            <a:r>
              <a:rPr lang="en-US" sz="1400" b="1" dirty="0">
                <a:solidFill>
                  <a:srgbClr val="000000"/>
                </a:solidFill>
                <a:effectLst/>
                <a:latin typeface="Bookman Old Style" panose="02050604050505020204" pitchFamily="18" charset="0"/>
                <a:ea typeface="Times New Roman" panose="02020603050405020304" pitchFamily="18" charset="0"/>
                <a:cs typeface="Times New Roman" panose="02020603050405020304" pitchFamily="18" charset="0"/>
              </a:rPr>
              <a:t>Purpose:</a:t>
            </a:r>
            <a:r>
              <a:rPr lang="en-US" sz="1400" dirty="0">
                <a:solidFill>
                  <a:srgbClr val="000000"/>
                </a:solidFill>
                <a:effectLst/>
                <a:latin typeface="Bookman Old Style" panose="02050604050505020204" pitchFamily="18" charset="0"/>
                <a:ea typeface="Times New Roman" panose="02020603050405020304" pitchFamily="18" charset="0"/>
                <a:cs typeface="Times New Roman" panose="02020603050405020304" pitchFamily="18" charset="0"/>
              </a:rPr>
              <a:t> To classify Twitter accounts as either bots or genuine users.</a:t>
            </a:r>
            <a:endParaRPr lang="en-US" sz="1400" dirty="0">
              <a:effectLst/>
              <a:latin typeface="Bookman Old Style" panose="02050604050505020204" pitchFamily="18" charset="0"/>
              <a:ea typeface="Calibri" panose="020F0502020204030204" pitchFamily="34" charset="0"/>
              <a:cs typeface="Times New Roman" panose="02020603050405020304" pitchFamily="18" charset="0"/>
            </a:endParaRPr>
          </a:p>
          <a:p>
            <a:pPr marL="0" marR="220345" algn="just">
              <a:lnSpc>
                <a:spcPct val="148000"/>
              </a:lnSpc>
              <a:spcBef>
                <a:spcPts val="0"/>
              </a:spcBef>
              <a:spcAft>
                <a:spcPts val="25"/>
              </a:spcAft>
            </a:pPr>
            <a:r>
              <a:rPr lang="en-US" sz="1400" dirty="0">
                <a:solidFill>
                  <a:srgbClr val="000000"/>
                </a:solidFill>
                <a:effectLst/>
                <a:latin typeface="Bookman Old Style" panose="02050604050505020204" pitchFamily="18" charset="0"/>
                <a:ea typeface="Times New Roman" panose="02020603050405020304" pitchFamily="18" charset="0"/>
                <a:cs typeface="Times New Roman" panose="02020603050405020304" pitchFamily="18" charset="0"/>
              </a:rPr>
              <a:t>Explanation:</a:t>
            </a:r>
            <a:endParaRPr lang="en-US" sz="1400" dirty="0">
              <a:effectLst/>
              <a:latin typeface="Bookman Old Style" panose="02050604050505020204" pitchFamily="18" charset="0"/>
              <a:ea typeface="Calibri" panose="020F0502020204030204" pitchFamily="34" charset="0"/>
              <a:cs typeface="Times New Roman" panose="02020603050405020304" pitchFamily="18" charset="0"/>
            </a:endParaRPr>
          </a:p>
          <a:p>
            <a:pPr marL="0" marR="220345" algn="just">
              <a:lnSpc>
                <a:spcPct val="148000"/>
              </a:lnSpc>
              <a:spcBef>
                <a:spcPts val="0"/>
              </a:spcBef>
              <a:spcAft>
                <a:spcPts val="25"/>
              </a:spcAft>
            </a:pPr>
            <a:r>
              <a:rPr lang="en-US" sz="1400" dirty="0">
                <a:solidFill>
                  <a:srgbClr val="000000"/>
                </a:solidFill>
                <a:effectLst/>
                <a:latin typeface="Bookman Old Style" panose="02050604050505020204" pitchFamily="18" charset="0"/>
                <a:ea typeface="Times New Roman" panose="02020603050405020304" pitchFamily="18" charset="0"/>
                <a:cs typeface="Times New Roman" panose="02020603050405020304" pitchFamily="18" charset="0"/>
              </a:rPr>
              <a:t>This module uses the features extracted from tweets (from the first module) and feeds them into a machine learning model.</a:t>
            </a:r>
          </a:p>
          <a:p>
            <a:pPr marL="0" marR="220345" algn="just">
              <a:lnSpc>
                <a:spcPct val="148000"/>
              </a:lnSpc>
              <a:spcBef>
                <a:spcPts val="0"/>
              </a:spcBef>
              <a:spcAft>
                <a:spcPts val="25"/>
              </a:spcAft>
            </a:pPr>
            <a:r>
              <a:rPr lang="en-US" sz="1400" b="1" dirty="0">
                <a:solidFill>
                  <a:srgbClr val="000000"/>
                </a:solidFill>
                <a:effectLst/>
                <a:latin typeface="Bookman Old Style" panose="02050604050505020204" pitchFamily="18" charset="0"/>
                <a:ea typeface="Times New Roman" panose="02020603050405020304" pitchFamily="18" charset="0"/>
                <a:cs typeface="Times New Roman" panose="02020603050405020304" pitchFamily="18" charset="0"/>
              </a:rPr>
              <a:t>3. Recognize Malicious URLs Using Machine Learning</a:t>
            </a:r>
            <a:endParaRPr lang="en-US" sz="1400" dirty="0">
              <a:effectLst/>
              <a:latin typeface="Bookman Old Style" panose="02050604050505020204" pitchFamily="18" charset="0"/>
              <a:ea typeface="Calibri" panose="020F0502020204030204" pitchFamily="34" charset="0"/>
              <a:cs typeface="Times New Roman" panose="02020603050405020304" pitchFamily="18" charset="0"/>
            </a:endParaRPr>
          </a:p>
          <a:p>
            <a:pPr marL="0" marR="220345" algn="just">
              <a:lnSpc>
                <a:spcPct val="148000"/>
              </a:lnSpc>
              <a:spcBef>
                <a:spcPts val="0"/>
              </a:spcBef>
              <a:spcAft>
                <a:spcPts val="25"/>
              </a:spcAft>
            </a:pPr>
            <a:r>
              <a:rPr lang="en-US" sz="1400" b="1" dirty="0">
                <a:solidFill>
                  <a:srgbClr val="000000"/>
                </a:solidFill>
                <a:effectLst/>
                <a:latin typeface="Bookman Old Style" panose="02050604050505020204" pitchFamily="18" charset="0"/>
                <a:ea typeface="Times New Roman" panose="02020603050405020304" pitchFamily="18" charset="0"/>
                <a:cs typeface="Times New Roman" panose="02020603050405020304" pitchFamily="18" charset="0"/>
              </a:rPr>
              <a:t>Purpose:</a:t>
            </a:r>
            <a:r>
              <a:rPr lang="en-US" sz="1400" dirty="0">
                <a:solidFill>
                  <a:srgbClr val="000000"/>
                </a:solidFill>
                <a:effectLst/>
                <a:latin typeface="Bookman Old Style" panose="02050604050505020204" pitchFamily="18" charset="0"/>
                <a:ea typeface="Times New Roman" panose="02020603050405020304" pitchFamily="18" charset="0"/>
                <a:cs typeface="Times New Roman" panose="02020603050405020304" pitchFamily="18" charset="0"/>
              </a:rPr>
              <a:t> To identify whether a URL in a tweet is malicious (e.g., phishing, malware) or safe.</a:t>
            </a:r>
            <a:endParaRPr lang="en-US" sz="1400" dirty="0">
              <a:effectLst/>
              <a:latin typeface="Bookman Old Style" panose="02050604050505020204" pitchFamily="18" charset="0"/>
              <a:ea typeface="Calibri" panose="020F0502020204030204" pitchFamily="34" charset="0"/>
              <a:cs typeface="Times New Roman" panose="02020603050405020304" pitchFamily="18" charset="0"/>
            </a:endParaRPr>
          </a:p>
          <a:p>
            <a:pPr marL="0" marR="220345" algn="just">
              <a:lnSpc>
                <a:spcPct val="148000"/>
              </a:lnSpc>
              <a:spcBef>
                <a:spcPts val="0"/>
              </a:spcBef>
              <a:spcAft>
                <a:spcPts val="25"/>
              </a:spcAft>
            </a:pPr>
            <a:r>
              <a:rPr lang="en-US" sz="1400" b="1" dirty="0">
                <a:solidFill>
                  <a:srgbClr val="000000"/>
                </a:solidFill>
                <a:effectLst/>
                <a:latin typeface="Bookman Old Style" panose="02050604050505020204" pitchFamily="18" charset="0"/>
                <a:ea typeface="Times New Roman" panose="02020603050405020304" pitchFamily="18" charset="0"/>
                <a:cs typeface="Times New Roman" panose="02020603050405020304" pitchFamily="18" charset="0"/>
              </a:rPr>
              <a:t>Explanation:</a:t>
            </a:r>
            <a:endParaRPr lang="en-US" sz="1400" dirty="0">
              <a:effectLst/>
              <a:latin typeface="Bookman Old Style" panose="02050604050505020204" pitchFamily="18" charset="0"/>
              <a:ea typeface="Calibri" panose="020F0502020204030204" pitchFamily="34" charset="0"/>
              <a:cs typeface="Times New Roman" panose="02020603050405020304" pitchFamily="18" charset="0"/>
            </a:endParaRPr>
          </a:p>
          <a:p>
            <a:pPr marL="0" marR="220345" algn="just">
              <a:lnSpc>
                <a:spcPct val="148000"/>
              </a:lnSpc>
              <a:spcBef>
                <a:spcPts val="0"/>
              </a:spcBef>
              <a:spcAft>
                <a:spcPts val="25"/>
              </a:spcAft>
            </a:pPr>
            <a:r>
              <a:rPr lang="en-US" sz="1400" dirty="0">
                <a:solidFill>
                  <a:srgbClr val="000000"/>
                </a:solidFill>
                <a:effectLst/>
                <a:latin typeface="Bookman Old Style" panose="02050604050505020204" pitchFamily="18" charset="0"/>
                <a:ea typeface="Times New Roman" panose="02020603050405020304" pitchFamily="18" charset="0"/>
                <a:cs typeface="Times New Roman" panose="02020603050405020304" pitchFamily="18" charset="0"/>
              </a:rPr>
              <a:t>Extracted URLs from tweets are analyzed using URL-based features, such as:</a:t>
            </a:r>
            <a:endParaRPr lang="en-US" sz="1400" dirty="0">
              <a:effectLst/>
              <a:latin typeface="Bookman Old Style" panose="02050604050505020204" pitchFamily="18" charset="0"/>
              <a:ea typeface="Calibri" panose="020F0502020204030204" pitchFamily="34" charset="0"/>
              <a:cs typeface="Times New Roman" panose="02020603050405020304" pitchFamily="18" charset="0"/>
            </a:endParaRPr>
          </a:p>
          <a:p>
            <a:pPr marL="0" marR="220345" algn="just">
              <a:lnSpc>
                <a:spcPct val="148000"/>
              </a:lnSpc>
              <a:spcBef>
                <a:spcPts val="0"/>
              </a:spcBef>
              <a:spcAft>
                <a:spcPts val="25"/>
              </a:spcAft>
            </a:pPr>
            <a:r>
              <a:rPr lang="en-US" sz="1400" dirty="0">
                <a:solidFill>
                  <a:srgbClr val="000000"/>
                </a:solidFill>
                <a:effectLst/>
                <a:latin typeface="Bookman Old Style" panose="02050604050505020204" pitchFamily="18" charset="0"/>
                <a:ea typeface="Times New Roman" panose="02020603050405020304" pitchFamily="18" charset="0"/>
                <a:cs typeface="Times New Roman" panose="02020603050405020304" pitchFamily="18" charset="0"/>
              </a:rPr>
              <a:t>Length of the URL</a:t>
            </a:r>
            <a:r>
              <a:rPr lang="en-US" sz="1400" dirty="0">
                <a:solidFill>
                  <a:srgbClr val="000000"/>
                </a:solidFill>
                <a:latin typeface="Bookman Old Style" panose="02050604050505020204" pitchFamily="18" charset="0"/>
                <a:ea typeface="Times New Roman" panose="02020603050405020304" pitchFamily="18" charset="0"/>
                <a:cs typeface="Times New Roman" panose="02020603050405020304" pitchFamily="18" charset="0"/>
              </a:rPr>
              <a:t>.</a:t>
            </a:r>
            <a:endParaRPr lang="en-US" sz="1400" dirty="0">
              <a:effectLst/>
              <a:latin typeface="Bookman Old Style" panose="02050604050505020204" pitchFamily="18" charset="0"/>
              <a:ea typeface="Calibri" panose="020F0502020204030204" pitchFamily="34" charset="0"/>
              <a:cs typeface="Times New Roman" panose="02020603050405020304" pitchFamily="18" charset="0"/>
            </a:endParaRPr>
          </a:p>
          <a:p>
            <a:pPr marL="0" marR="220345" algn="just">
              <a:lnSpc>
                <a:spcPct val="148000"/>
              </a:lnSpc>
              <a:spcBef>
                <a:spcPts val="0"/>
              </a:spcBef>
              <a:spcAft>
                <a:spcPts val="25"/>
              </a:spcAft>
            </a:pPr>
            <a:endParaRPr lang="en-US" sz="1400" dirty="0">
              <a:latin typeface="Bookman Old Style" panose="02050604050505020204" pitchFamily="18" charset="0"/>
            </a:endParaRPr>
          </a:p>
        </p:txBody>
      </p:sp>
    </p:spTree>
    <p:extLst>
      <p:ext uri="{BB962C8B-B14F-4D97-AF65-F5344CB8AC3E}">
        <p14:creationId xmlns:p14="http://schemas.microsoft.com/office/powerpoint/2010/main" val="8692531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1E5E5BB-29B8-151F-7D97-29F29C2D0AD9}"/>
              </a:ext>
            </a:extLst>
          </p:cNvPr>
          <p:cNvSpPr txBox="1"/>
          <p:nvPr/>
        </p:nvSpPr>
        <p:spPr>
          <a:xfrm>
            <a:off x="641023" y="377072"/>
            <a:ext cx="3808429" cy="369332"/>
          </a:xfrm>
          <a:prstGeom prst="rect">
            <a:avLst/>
          </a:prstGeom>
          <a:noFill/>
        </p:spPr>
        <p:txBody>
          <a:bodyPr wrap="square" rtlCol="0">
            <a:spAutoFit/>
          </a:bodyPr>
          <a:lstStyle/>
          <a:p>
            <a:r>
              <a:rPr lang="en-US" b="1" u="sng" dirty="0">
                <a:latin typeface="Bookman Old Style" panose="02050604050505020204" pitchFamily="18" charset="0"/>
              </a:rPr>
              <a:t>SAMPLE OUTPUT</a:t>
            </a:r>
            <a:r>
              <a:rPr lang="en-US" dirty="0"/>
              <a:t>:</a:t>
            </a:r>
          </a:p>
        </p:txBody>
      </p:sp>
      <p:pic>
        <p:nvPicPr>
          <p:cNvPr id="4" name="Picture 3">
            <a:extLst>
              <a:ext uri="{FF2B5EF4-FFF2-40B4-BE49-F238E27FC236}">
                <a16:creationId xmlns:a16="http://schemas.microsoft.com/office/drawing/2014/main" id="{F0C4EDE0-79BE-97ED-89DF-57B87042D042}"/>
              </a:ext>
            </a:extLst>
          </p:cNvPr>
          <p:cNvPicPr>
            <a:picLocks noChangeAspect="1"/>
          </p:cNvPicPr>
          <p:nvPr/>
        </p:nvPicPr>
        <p:blipFill>
          <a:blip r:embed="rId3"/>
          <a:stretch>
            <a:fillRect/>
          </a:stretch>
        </p:blipFill>
        <p:spPr>
          <a:xfrm>
            <a:off x="485968" y="1179849"/>
            <a:ext cx="5432007" cy="3103133"/>
          </a:xfrm>
          <a:prstGeom prst="rect">
            <a:avLst/>
          </a:prstGeom>
        </p:spPr>
      </p:pic>
      <p:sp>
        <p:nvSpPr>
          <p:cNvPr id="8" name="TextBox 7">
            <a:extLst>
              <a:ext uri="{FF2B5EF4-FFF2-40B4-BE49-F238E27FC236}">
                <a16:creationId xmlns:a16="http://schemas.microsoft.com/office/drawing/2014/main" id="{F2F23659-5EFB-AE49-B457-097F6131BD70}"/>
              </a:ext>
            </a:extLst>
          </p:cNvPr>
          <p:cNvSpPr txBox="1"/>
          <p:nvPr/>
        </p:nvSpPr>
        <p:spPr>
          <a:xfrm>
            <a:off x="879049" y="4529388"/>
            <a:ext cx="4918435" cy="342786"/>
          </a:xfrm>
          <a:prstGeom prst="rect">
            <a:avLst/>
          </a:prstGeom>
          <a:noFill/>
        </p:spPr>
        <p:txBody>
          <a:bodyPr wrap="square">
            <a:spAutoFit/>
          </a:bodyPr>
          <a:lstStyle/>
          <a:p>
            <a:pPr marL="0" marR="1058545" algn="ctr">
              <a:lnSpc>
                <a:spcPct val="107000"/>
              </a:lnSpc>
              <a:spcBef>
                <a:spcPts val="0"/>
              </a:spcBef>
              <a:spcAft>
                <a:spcPts val="15"/>
              </a:spcAft>
            </a:pPr>
            <a:r>
              <a:rPr lang="en-US" sz="1600" b="1" dirty="0">
                <a:solidFill>
                  <a:srgbClr val="000000"/>
                </a:solidFill>
                <a:effectLst/>
                <a:latin typeface="Bookman Old Style" panose="02050604050505020204" pitchFamily="18" charset="0"/>
                <a:ea typeface="Times New Roman" panose="02020603050405020304" pitchFamily="18" charset="0"/>
                <a:cs typeface="Times New Roman" panose="02020603050405020304" pitchFamily="18" charset="0"/>
              </a:rPr>
              <a:t>Select Kaggle Tweets Dataset</a:t>
            </a:r>
            <a:endParaRPr lang="en-US" sz="1600" dirty="0">
              <a:effectLst/>
              <a:latin typeface="Bookman Old Style" panose="02050604050505020204" pitchFamily="18" charset="0"/>
              <a:ea typeface="Calibri" panose="020F0502020204030204" pitchFamily="34" charset="0"/>
              <a:cs typeface="Times New Roman" panose="02020603050405020304" pitchFamily="18" charset="0"/>
            </a:endParaRPr>
          </a:p>
        </p:txBody>
      </p:sp>
      <p:pic>
        <p:nvPicPr>
          <p:cNvPr id="11" name="Picture 10">
            <a:extLst>
              <a:ext uri="{FF2B5EF4-FFF2-40B4-BE49-F238E27FC236}">
                <a16:creationId xmlns:a16="http://schemas.microsoft.com/office/drawing/2014/main" id="{4AEEC3D2-6EDD-FF32-EA4F-4735E4893F38}"/>
              </a:ext>
            </a:extLst>
          </p:cNvPr>
          <p:cNvPicPr>
            <a:picLocks noChangeAspect="1"/>
          </p:cNvPicPr>
          <p:nvPr/>
        </p:nvPicPr>
        <p:blipFill>
          <a:blip r:embed="rId4"/>
          <a:stretch>
            <a:fillRect/>
          </a:stretch>
        </p:blipFill>
        <p:spPr>
          <a:xfrm>
            <a:off x="6443710" y="1230537"/>
            <a:ext cx="5429250" cy="3052445"/>
          </a:xfrm>
          <a:prstGeom prst="rect">
            <a:avLst/>
          </a:prstGeom>
        </p:spPr>
      </p:pic>
      <p:sp>
        <p:nvSpPr>
          <p:cNvPr id="12" name="TextBox 11">
            <a:extLst>
              <a:ext uri="{FF2B5EF4-FFF2-40B4-BE49-F238E27FC236}">
                <a16:creationId xmlns:a16="http://schemas.microsoft.com/office/drawing/2014/main" id="{F2BC6118-EDA2-AAF7-D82A-40EC424EA815}"/>
              </a:ext>
            </a:extLst>
          </p:cNvPr>
          <p:cNvSpPr txBox="1"/>
          <p:nvPr/>
        </p:nvSpPr>
        <p:spPr>
          <a:xfrm>
            <a:off x="7268066" y="4516767"/>
            <a:ext cx="3619893" cy="338554"/>
          </a:xfrm>
          <a:prstGeom prst="rect">
            <a:avLst/>
          </a:prstGeom>
          <a:noFill/>
        </p:spPr>
        <p:txBody>
          <a:bodyPr wrap="square" rtlCol="0">
            <a:spAutoFit/>
          </a:bodyPr>
          <a:lstStyle/>
          <a:p>
            <a:r>
              <a:rPr lang="en-US" sz="1600" b="1" dirty="0">
                <a:latin typeface="Bookman Old Style" panose="02050604050505020204" pitchFamily="18" charset="0"/>
              </a:rPr>
              <a:t>Extracting Tweets</a:t>
            </a:r>
          </a:p>
        </p:txBody>
      </p:sp>
    </p:spTree>
    <p:extLst>
      <p:ext uri="{BB962C8B-B14F-4D97-AF65-F5344CB8AC3E}">
        <p14:creationId xmlns:p14="http://schemas.microsoft.com/office/powerpoint/2010/main" val="30502304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3C4731A-37C3-26C1-6F5D-4E6D8AF27A6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10025" y="1047890"/>
            <a:ext cx="5429250" cy="3052445"/>
          </a:xfrm>
          <a:prstGeom prst="rect">
            <a:avLst/>
          </a:prstGeom>
        </p:spPr>
      </p:pic>
      <p:sp>
        <p:nvSpPr>
          <p:cNvPr id="3" name="TextBox 2">
            <a:extLst>
              <a:ext uri="{FF2B5EF4-FFF2-40B4-BE49-F238E27FC236}">
                <a16:creationId xmlns:a16="http://schemas.microsoft.com/office/drawing/2014/main" id="{FE9ED86E-68AD-7F4A-0AA9-ED3E62B8C45A}"/>
              </a:ext>
            </a:extLst>
          </p:cNvPr>
          <p:cNvSpPr txBox="1"/>
          <p:nvPr/>
        </p:nvSpPr>
        <p:spPr>
          <a:xfrm>
            <a:off x="1809947" y="4364610"/>
            <a:ext cx="3167406" cy="338554"/>
          </a:xfrm>
          <a:prstGeom prst="rect">
            <a:avLst/>
          </a:prstGeom>
          <a:noFill/>
        </p:spPr>
        <p:txBody>
          <a:bodyPr wrap="square" rtlCol="0">
            <a:spAutoFit/>
          </a:bodyPr>
          <a:lstStyle/>
          <a:p>
            <a:r>
              <a:rPr lang="en-US" sz="1600" b="1" dirty="0">
                <a:latin typeface="Bookman Old Style" panose="02050604050505020204" pitchFamily="18" charset="0"/>
              </a:rPr>
              <a:t>Recognized Bots</a:t>
            </a:r>
          </a:p>
        </p:txBody>
      </p:sp>
      <p:pic>
        <p:nvPicPr>
          <p:cNvPr id="4" name="Picture 3">
            <a:extLst>
              <a:ext uri="{FF2B5EF4-FFF2-40B4-BE49-F238E27FC236}">
                <a16:creationId xmlns:a16="http://schemas.microsoft.com/office/drawing/2014/main" id="{FD90DBE5-FAD8-BBE8-FBF5-F9791712CF8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426233" y="1047890"/>
            <a:ext cx="5429250" cy="3054985"/>
          </a:xfrm>
          <a:prstGeom prst="rect">
            <a:avLst/>
          </a:prstGeom>
          <a:noFill/>
        </p:spPr>
      </p:pic>
      <p:sp>
        <p:nvSpPr>
          <p:cNvPr id="6" name="TextBox 5">
            <a:extLst>
              <a:ext uri="{FF2B5EF4-FFF2-40B4-BE49-F238E27FC236}">
                <a16:creationId xmlns:a16="http://schemas.microsoft.com/office/drawing/2014/main" id="{34502BAD-8C55-FDFA-F467-54B68BEE235A}"/>
              </a:ext>
            </a:extLst>
          </p:cNvPr>
          <p:cNvSpPr txBox="1"/>
          <p:nvPr/>
        </p:nvSpPr>
        <p:spPr>
          <a:xfrm>
            <a:off x="6799082" y="4344945"/>
            <a:ext cx="6094428" cy="338554"/>
          </a:xfrm>
          <a:prstGeom prst="rect">
            <a:avLst/>
          </a:prstGeom>
          <a:noFill/>
        </p:spPr>
        <p:txBody>
          <a:bodyPr wrap="square">
            <a:spAutoFit/>
          </a:bodyPr>
          <a:lstStyle/>
          <a:p>
            <a:r>
              <a:rPr lang="en-US" sz="1600" b="1" dirty="0">
                <a:effectLst/>
                <a:latin typeface="Bookman Old Style" panose="02050604050505020204" pitchFamily="18" charset="0"/>
                <a:ea typeface="Calibri" panose="020F0502020204030204" pitchFamily="34" charset="0"/>
                <a:cs typeface="Times New Roman" panose="02020603050405020304" pitchFamily="18" charset="0"/>
              </a:rPr>
              <a:t>ROC Curve for detecting twitter bots</a:t>
            </a:r>
            <a:endParaRPr lang="en-US" sz="1600" dirty="0">
              <a:latin typeface="Bookman Old Style" panose="02050604050505020204" pitchFamily="18" charset="0"/>
            </a:endParaRPr>
          </a:p>
        </p:txBody>
      </p:sp>
    </p:spTree>
    <p:extLst>
      <p:ext uri="{BB962C8B-B14F-4D97-AF65-F5344CB8AC3E}">
        <p14:creationId xmlns:p14="http://schemas.microsoft.com/office/powerpoint/2010/main" val="27643350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FFCA1DD-F252-FDFA-444E-09B093882BF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77920" y="941061"/>
            <a:ext cx="5429250" cy="3054985"/>
          </a:xfrm>
          <a:prstGeom prst="rect">
            <a:avLst/>
          </a:prstGeom>
          <a:noFill/>
        </p:spPr>
      </p:pic>
      <p:pic>
        <p:nvPicPr>
          <p:cNvPr id="3" name="Picture 2">
            <a:extLst>
              <a:ext uri="{FF2B5EF4-FFF2-40B4-BE49-F238E27FC236}">
                <a16:creationId xmlns:a16="http://schemas.microsoft.com/office/drawing/2014/main" id="{F5E9F220-CCC4-9FF4-65F5-5B6ED701BA19}"/>
              </a:ext>
            </a:extLst>
          </p:cNvPr>
          <p:cNvPicPr>
            <a:picLocks noChangeAspect="1"/>
          </p:cNvPicPr>
          <p:nvPr/>
        </p:nvPicPr>
        <p:blipFill>
          <a:blip r:embed="rId3"/>
          <a:stretch>
            <a:fillRect/>
          </a:stretch>
        </p:blipFill>
        <p:spPr>
          <a:xfrm>
            <a:off x="6284831" y="1089016"/>
            <a:ext cx="5429250" cy="2907030"/>
          </a:xfrm>
          <a:prstGeom prst="rect">
            <a:avLst/>
          </a:prstGeom>
        </p:spPr>
      </p:pic>
      <p:sp>
        <p:nvSpPr>
          <p:cNvPr id="5" name="TextBox 4">
            <a:extLst>
              <a:ext uri="{FF2B5EF4-FFF2-40B4-BE49-F238E27FC236}">
                <a16:creationId xmlns:a16="http://schemas.microsoft.com/office/drawing/2014/main" id="{8A396236-7E57-A9D9-36D1-D53238F95B45}"/>
              </a:ext>
            </a:extLst>
          </p:cNvPr>
          <p:cNvSpPr txBox="1"/>
          <p:nvPr/>
        </p:nvSpPr>
        <p:spPr>
          <a:xfrm>
            <a:off x="5907170" y="4231856"/>
            <a:ext cx="6094428" cy="422167"/>
          </a:xfrm>
          <a:prstGeom prst="rect">
            <a:avLst/>
          </a:prstGeom>
          <a:noFill/>
        </p:spPr>
        <p:txBody>
          <a:bodyPr wrap="square">
            <a:spAutoFit/>
          </a:bodyPr>
          <a:lstStyle/>
          <a:p>
            <a:pPr marL="0" marR="0" algn="ctr">
              <a:lnSpc>
                <a:spcPct val="150000"/>
              </a:lnSpc>
              <a:spcBef>
                <a:spcPts val="0"/>
              </a:spcBef>
              <a:spcAft>
                <a:spcPts val="0"/>
              </a:spcAft>
              <a:tabLst>
                <a:tab pos="1165860" algn="l"/>
              </a:tabLst>
            </a:pPr>
            <a:r>
              <a:rPr lang="en-US" sz="1600" b="1" dirty="0">
                <a:effectLst/>
                <a:latin typeface="Bookman Old Style" panose="02050604050505020204" pitchFamily="18" charset="0"/>
                <a:ea typeface="Times New Roman" panose="02020603050405020304" pitchFamily="18" charset="0"/>
                <a:cs typeface="Times New Roman" panose="02020603050405020304" pitchFamily="18" charset="0"/>
              </a:rPr>
              <a:t>ROC Curve for detecting malicious </a:t>
            </a:r>
            <a:r>
              <a:rPr lang="en-US" sz="1600" b="1" dirty="0" err="1">
                <a:effectLst/>
                <a:latin typeface="Bookman Old Style" panose="02050604050505020204" pitchFamily="18" charset="0"/>
                <a:ea typeface="Times New Roman" panose="02020603050405020304" pitchFamily="18" charset="0"/>
                <a:cs typeface="Times New Roman" panose="02020603050405020304" pitchFamily="18" charset="0"/>
              </a:rPr>
              <a:t>urls</a:t>
            </a:r>
            <a:endParaRPr lang="en-US" sz="1600" b="1" dirty="0">
              <a:effectLst/>
              <a:latin typeface="Bookman Old Style" panose="02050604050505020204" pitchFamily="18"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A36D9309-475D-FC9F-31C2-CDCD8200BC89}"/>
              </a:ext>
            </a:extLst>
          </p:cNvPr>
          <p:cNvSpPr txBox="1"/>
          <p:nvPr/>
        </p:nvSpPr>
        <p:spPr>
          <a:xfrm>
            <a:off x="1293830" y="4315469"/>
            <a:ext cx="6094428" cy="338554"/>
          </a:xfrm>
          <a:prstGeom prst="rect">
            <a:avLst/>
          </a:prstGeom>
          <a:noFill/>
        </p:spPr>
        <p:txBody>
          <a:bodyPr wrap="square">
            <a:spAutoFit/>
          </a:bodyPr>
          <a:lstStyle/>
          <a:p>
            <a:r>
              <a:rPr lang="en-US" sz="1600" b="1" dirty="0">
                <a:effectLst/>
                <a:latin typeface="Bookman Old Style" panose="02050604050505020204" pitchFamily="18" charset="0"/>
                <a:ea typeface="Calibri" panose="020F0502020204030204" pitchFamily="34" charset="0"/>
              </a:rPr>
              <a:t>Detecting Malicious URLS</a:t>
            </a:r>
            <a:endParaRPr lang="en-US" sz="1600" dirty="0">
              <a:latin typeface="Bookman Old Style" panose="02050604050505020204" pitchFamily="18" charset="0"/>
            </a:endParaRPr>
          </a:p>
        </p:txBody>
      </p:sp>
    </p:spTree>
    <p:extLst>
      <p:ext uri="{BB962C8B-B14F-4D97-AF65-F5344CB8AC3E}">
        <p14:creationId xmlns:p14="http://schemas.microsoft.com/office/powerpoint/2010/main" val="1699102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0EC9E7F-511A-4A8C-B346-3031AD02DA13}"/>
              </a:ext>
            </a:extLst>
          </p:cNvPr>
          <p:cNvSpPr txBox="1"/>
          <p:nvPr/>
        </p:nvSpPr>
        <p:spPr>
          <a:xfrm>
            <a:off x="565608" y="367645"/>
            <a:ext cx="3817856" cy="523220"/>
          </a:xfrm>
          <a:prstGeom prst="rect">
            <a:avLst/>
          </a:prstGeom>
          <a:noFill/>
        </p:spPr>
        <p:txBody>
          <a:bodyPr wrap="square" rtlCol="0">
            <a:spAutoFit/>
          </a:bodyPr>
          <a:lstStyle/>
          <a:p>
            <a:r>
              <a:rPr lang="en-US" sz="2800" b="1" u="sng" dirty="0"/>
              <a:t>CONCLUSION </a:t>
            </a:r>
            <a:r>
              <a:rPr lang="en-US" sz="2800" b="1" dirty="0"/>
              <a:t>:</a:t>
            </a:r>
            <a:endParaRPr lang="en-US" sz="2800" b="1" u="sng" dirty="0"/>
          </a:p>
        </p:txBody>
      </p:sp>
      <p:sp>
        <p:nvSpPr>
          <p:cNvPr id="3" name="TextBox 2">
            <a:extLst>
              <a:ext uri="{FF2B5EF4-FFF2-40B4-BE49-F238E27FC236}">
                <a16:creationId xmlns:a16="http://schemas.microsoft.com/office/drawing/2014/main" id="{6F62A9EE-619C-3C2C-80BF-BB18A9416C96}"/>
              </a:ext>
            </a:extLst>
          </p:cNvPr>
          <p:cNvSpPr txBox="1"/>
          <p:nvPr/>
        </p:nvSpPr>
        <p:spPr>
          <a:xfrm>
            <a:off x="556180" y="1329179"/>
            <a:ext cx="10114961" cy="1754326"/>
          </a:xfrm>
          <a:prstGeom prst="rect">
            <a:avLst/>
          </a:prstGeom>
          <a:noFill/>
        </p:spPr>
        <p:txBody>
          <a:bodyPr wrap="square" rtlCol="0">
            <a:spAutoFit/>
          </a:bodyPr>
          <a:lstStyle/>
          <a:p>
            <a:pPr algn="just"/>
            <a:r>
              <a:rPr lang="en-US" dirty="0">
                <a:latin typeface="Bookman Old Style" panose="02050604050505020204" pitchFamily="18" charset="0"/>
              </a:rPr>
              <a:t>We suggested an algorithm in our research that can identify Twitter bots. towards identify BOTS from tweets, Random forest was used. It contributed towards a decrease in cybercrime. In comparison towards decision tree, Multinomial </a:t>
            </a:r>
            <a:r>
              <a:rPr lang="en-US" dirty="0" err="1">
                <a:latin typeface="Bookman Old Style" panose="02050604050505020204" pitchFamily="18" charset="0"/>
              </a:rPr>
              <a:t>Navie</a:t>
            </a:r>
            <a:r>
              <a:rPr lang="en-US" dirty="0">
                <a:latin typeface="Bookman Old Style" panose="02050604050505020204" pitchFamily="18" charset="0"/>
              </a:rPr>
              <a:t> Bayes, bag about words algorithm was shown towards be best learning model, among an accuracy about 86.7% for train data&amp; roughly 86.65% for test dataset. Thus, using real-time data &amp; our machine learning algorithms, Twitter bots were successfully identified.</a:t>
            </a:r>
          </a:p>
        </p:txBody>
      </p:sp>
    </p:spTree>
    <p:extLst>
      <p:ext uri="{BB962C8B-B14F-4D97-AF65-F5344CB8AC3E}">
        <p14:creationId xmlns:p14="http://schemas.microsoft.com/office/powerpoint/2010/main" val="13317802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24F0E2C-2C44-2CA1-6DEA-EC4623B912CD}"/>
              </a:ext>
            </a:extLst>
          </p:cNvPr>
          <p:cNvSpPr txBox="1"/>
          <p:nvPr/>
        </p:nvSpPr>
        <p:spPr>
          <a:xfrm>
            <a:off x="368968" y="609600"/>
            <a:ext cx="7652085" cy="369332"/>
          </a:xfrm>
          <a:prstGeom prst="rect">
            <a:avLst/>
          </a:prstGeom>
          <a:noFill/>
        </p:spPr>
        <p:txBody>
          <a:bodyPr wrap="square" rtlCol="0">
            <a:spAutoFit/>
          </a:bodyPr>
          <a:lstStyle/>
          <a:p>
            <a:r>
              <a:rPr lang="en-IN" b="1" u="sng" dirty="0">
                <a:latin typeface="Bookman Old Style" panose="02050604050505020204" pitchFamily="18" charset="0"/>
              </a:rPr>
              <a:t>REFERENCES : </a:t>
            </a:r>
          </a:p>
        </p:txBody>
      </p:sp>
      <p:sp>
        <p:nvSpPr>
          <p:cNvPr id="3" name="TextBox 2">
            <a:extLst>
              <a:ext uri="{FF2B5EF4-FFF2-40B4-BE49-F238E27FC236}">
                <a16:creationId xmlns:a16="http://schemas.microsoft.com/office/drawing/2014/main" id="{59E2983F-D0FA-53DF-D791-886932A38CFC}"/>
              </a:ext>
            </a:extLst>
          </p:cNvPr>
          <p:cNvSpPr txBox="1"/>
          <p:nvPr/>
        </p:nvSpPr>
        <p:spPr>
          <a:xfrm>
            <a:off x="240632" y="1411705"/>
            <a:ext cx="11101136" cy="4113177"/>
          </a:xfrm>
          <a:prstGeom prst="rect">
            <a:avLst/>
          </a:prstGeom>
          <a:noFill/>
        </p:spPr>
        <p:txBody>
          <a:bodyPr wrap="square" rtlCol="0">
            <a:spAutoFit/>
          </a:bodyPr>
          <a:lstStyle/>
          <a:p>
            <a:pPr marL="342900" indent="-342900" algn="just">
              <a:lnSpc>
                <a:spcPct val="150000"/>
              </a:lnSpc>
              <a:buFont typeface="+mj-lt"/>
              <a:buAutoNum type="arabicPeriod"/>
            </a:pPr>
            <a:r>
              <a:rPr lang="en-IN" sz="1600" dirty="0">
                <a:latin typeface="Bookman Old Style" panose="02050604050505020204" pitchFamily="18" charset="0"/>
              </a:rPr>
              <a:t>Van Der Walt, Estée, &amp; Jan Eloff. "Using </a:t>
            </a:r>
            <a:r>
              <a:rPr lang="en-IN" sz="1600" dirty="0" err="1">
                <a:latin typeface="Bookman Old Style" panose="02050604050505020204" pitchFamily="18" charset="0"/>
              </a:rPr>
              <a:t>machinelearning</a:t>
            </a:r>
            <a:r>
              <a:rPr lang="en-IN" sz="1600" dirty="0">
                <a:latin typeface="Bookman Old Style" panose="02050604050505020204" pitchFamily="18" charset="0"/>
              </a:rPr>
              <a:t> towards detect fake identities: bots </a:t>
            </a:r>
            <a:r>
              <a:rPr lang="en-IN" sz="1600" dirty="0" err="1">
                <a:latin typeface="Bookman Old Style" panose="02050604050505020204" pitchFamily="18" charset="0"/>
              </a:rPr>
              <a:t>vshumans</a:t>
            </a:r>
            <a:r>
              <a:rPr lang="en-IN" sz="1600" dirty="0">
                <a:latin typeface="Bookman Old Style" panose="02050604050505020204" pitchFamily="18" charset="0"/>
              </a:rPr>
              <a:t>." IEEE Access 6 (2018): 6540-6549.</a:t>
            </a:r>
          </a:p>
          <a:p>
            <a:pPr marL="342900" indent="-342900" algn="just">
              <a:lnSpc>
                <a:spcPct val="150000"/>
              </a:lnSpc>
              <a:buFont typeface="+mj-lt"/>
              <a:buAutoNum type="arabicPeriod"/>
            </a:pPr>
            <a:r>
              <a:rPr lang="en-IN" sz="1600" dirty="0">
                <a:latin typeface="Bookman Old Style" panose="02050604050505020204" pitchFamily="18" charset="0"/>
              </a:rPr>
              <a:t> Sever Nasim, </a:t>
            </a:r>
            <a:r>
              <a:rPr lang="en-IN" sz="1600" dirty="0" err="1">
                <a:latin typeface="Bookman Old Style" panose="02050604050505020204" pitchFamily="18" charset="0"/>
              </a:rPr>
              <a:t>Mehwish</a:t>
            </a:r>
            <a:r>
              <a:rPr lang="en-IN" sz="1600" dirty="0">
                <a:latin typeface="Bookman Old Style" panose="02050604050505020204" pitchFamily="18" charset="0"/>
              </a:rPr>
              <a:t>, Andrew Nguyen, Nick Lothian, Robert Cope, &amp; Lewis Mitchell. "Realtime detection about content polluters in partially observable Twitter networks." </a:t>
            </a:r>
            <a:r>
              <a:rPr lang="en-IN" sz="1600" dirty="0" err="1">
                <a:latin typeface="Bookman Old Style" panose="02050604050505020204" pitchFamily="18" charset="0"/>
              </a:rPr>
              <a:t>arXiv</a:t>
            </a:r>
            <a:r>
              <a:rPr lang="en-IN" sz="1600" dirty="0">
                <a:latin typeface="Bookman Old Style" panose="02050604050505020204" pitchFamily="18" charset="0"/>
              </a:rPr>
              <a:t> preprintarXiv:1804.01235 (2018).</a:t>
            </a:r>
          </a:p>
          <a:p>
            <a:pPr marL="342900" indent="-342900" algn="just">
              <a:lnSpc>
                <a:spcPct val="150000"/>
              </a:lnSpc>
              <a:buFont typeface="+mj-lt"/>
              <a:buAutoNum type="arabicPeriod"/>
            </a:pPr>
            <a:r>
              <a:rPr lang="en-IN" sz="1600" dirty="0">
                <a:latin typeface="Bookman Old Style" panose="02050604050505020204" pitchFamily="18" charset="0"/>
              </a:rPr>
              <a:t>Khalil, Ashraf, Hassan </a:t>
            </a:r>
            <a:r>
              <a:rPr lang="en-IN" sz="1600" dirty="0" err="1">
                <a:latin typeface="Bookman Old Style" panose="02050604050505020204" pitchFamily="18" charset="0"/>
              </a:rPr>
              <a:t>Hajjdiab</a:t>
            </a:r>
            <a:r>
              <a:rPr lang="en-IN" sz="1600" dirty="0">
                <a:latin typeface="Bookman Old Style" panose="02050604050505020204" pitchFamily="18" charset="0"/>
              </a:rPr>
              <a:t>, &amp; Nabeel Al- </a:t>
            </a:r>
            <a:r>
              <a:rPr lang="en-IN" sz="1600" dirty="0" err="1">
                <a:latin typeface="Bookman Old Style" panose="02050604050505020204" pitchFamily="18" charset="0"/>
              </a:rPr>
              <a:t>Qirim</a:t>
            </a:r>
            <a:r>
              <a:rPr lang="en-IN" sz="1600" dirty="0">
                <a:latin typeface="Bookman Old Style" panose="02050604050505020204" pitchFamily="18" charset="0"/>
              </a:rPr>
              <a:t>. "Detecting Fake Followers in Twitter: </a:t>
            </a:r>
            <a:r>
              <a:rPr lang="en-IN" sz="1600" dirty="0" err="1">
                <a:latin typeface="Bookman Old Style" panose="02050604050505020204" pitchFamily="18" charset="0"/>
              </a:rPr>
              <a:t>AMachine</a:t>
            </a:r>
            <a:r>
              <a:rPr lang="en-IN" sz="1600" dirty="0">
                <a:latin typeface="Bookman Old Style" panose="02050604050505020204" pitchFamily="18" charset="0"/>
              </a:rPr>
              <a:t> Learning Approach." International Journal about Machine Learning &amp; Computing7,no.6(2017). </a:t>
            </a:r>
          </a:p>
          <a:p>
            <a:pPr marL="342900" indent="-342900" algn="just">
              <a:lnSpc>
                <a:spcPct val="150000"/>
              </a:lnSpc>
              <a:buFont typeface="+mj-lt"/>
              <a:buAutoNum type="arabicPeriod"/>
            </a:pPr>
            <a:r>
              <a:rPr lang="en-IN" sz="1600" dirty="0" err="1">
                <a:latin typeface="Bookman Old Style" panose="02050604050505020204" pitchFamily="18" charset="0"/>
              </a:rPr>
              <a:t>Wetstone</a:t>
            </a:r>
            <a:r>
              <a:rPr lang="en-IN" sz="1600" dirty="0">
                <a:latin typeface="Bookman Old Style" panose="02050604050505020204" pitchFamily="18" charset="0"/>
              </a:rPr>
              <a:t>, Jessica &amp; Sahil R. Nayyar. “I Spot a Bot: Building a binary classifier towards detect bots on Twitter.” (2017).</a:t>
            </a:r>
          </a:p>
          <a:p>
            <a:pPr marL="342900" indent="-342900" algn="just">
              <a:lnSpc>
                <a:spcPct val="150000"/>
              </a:lnSpc>
              <a:buFont typeface="+mj-lt"/>
              <a:buAutoNum type="arabicPeriod"/>
            </a:pPr>
            <a:r>
              <a:rPr lang="en-IN" sz="1600" dirty="0" err="1">
                <a:latin typeface="Bookman Old Style" panose="02050604050505020204" pitchFamily="18" charset="0"/>
              </a:rPr>
              <a:t>Karataş</a:t>
            </a:r>
            <a:r>
              <a:rPr lang="en-IN" sz="1600" dirty="0">
                <a:latin typeface="Bookman Old Style" panose="02050604050505020204" pitchFamily="18" charset="0"/>
              </a:rPr>
              <a:t>, </a:t>
            </a:r>
            <a:r>
              <a:rPr lang="en-IN" sz="1600" dirty="0" err="1">
                <a:latin typeface="Bookman Old Style" panose="02050604050505020204" pitchFamily="18" charset="0"/>
              </a:rPr>
              <a:t>Arzum</a:t>
            </a:r>
            <a:r>
              <a:rPr lang="en-IN" sz="1600" dirty="0">
                <a:latin typeface="Bookman Old Style" panose="02050604050505020204" pitchFamily="18" charset="0"/>
              </a:rPr>
              <a:t>, &amp; </a:t>
            </a:r>
            <a:r>
              <a:rPr lang="en-IN" sz="1600" dirty="0" err="1">
                <a:latin typeface="Bookman Old Style" panose="02050604050505020204" pitchFamily="18" charset="0"/>
              </a:rPr>
              <a:t>Serap</a:t>
            </a:r>
            <a:r>
              <a:rPr lang="en-IN" sz="1600" dirty="0">
                <a:latin typeface="Bookman Old Style" panose="02050604050505020204" pitchFamily="18" charset="0"/>
              </a:rPr>
              <a:t> </a:t>
            </a:r>
            <a:r>
              <a:rPr lang="en-IN" sz="1600" dirty="0" err="1">
                <a:latin typeface="Bookman Old Style" panose="02050604050505020204" pitchFamily="18" charset="0"/>
              </a:rPr>
              <a:t>Şahin</a:t>
            </a:r>
            <a:r>
              <a:rPr lang="en-IN" sz="1600" dirty="0">
                <a:latin typeface="Bookman Old Style" panose="02050604050505020204" pitchFamily="18" charset="0"/>
              </a:rPr>
              <a:t>. "A Review on Social Bot Detection Techniques &amp; </a:t>
            </a:r>
            <a:r>
              <a:rPr lang="en-IN" sz="1600" dirty="0" err="1">
                <a:latin typeface="Bookman Old Style" panose="02050604050505020204" pitchFamily="18" charset="0"/>
              </a:rPr>
              <a:t>ResearchDirections</a:t>
            </a:r>
            <a:r>
              <a:rPr lang="en-IN" sz="1600" dirty="0">
                <a:latin typeface="Bookman Old Style" panose="02050604050505020204" pitchFamily="18" charset="0"/>
              </a:rPr>
              <a:t>." In Proc. Int. Security &amp; Cryptology Conference Turkey, pp. 156-161. 2017.</a:t>
            </a:r>
          </a:p>
        </p:txBody>
      </p:sp>
    </p:spTree>
    <p:extLst>
      <p:ext uri="{BB962C8B-B14F-4D97-AF65-F5344CB8AC3E}">
        <p14:creationId xmlns:p14="http://schemas.microsoft.com/office/powerpoint/2010/main" val="2494320753"/>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328</TotalTime>
  <Words>1274</Words>
  <Application>Microsoft Office PowerPoint</Application>
  <PresentationFormat>Widescreen</PresentationFormat>
  <Paragraphs>104</Paragraphs>
  <Slides>16</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Arial</vt:lpstr>
      <vt:lpstr>Arial Black</vt:lpstr>
      <vt:lpstr>Bahnschrift SemiLight</vt:lpstr>
      <vt:lpstr>Bookman Old Style</vt:lpstr>
      <vt:lpstr>Calibri</vt:lpstr>
      <vt:lpstr>Calibri Light</vt:lpstr>
      <vt:lpstr>Symbol</vt:lpstr>
      <vt:lpstr>Times New Roman</vt:lpstr>
      <vt:lpstr>Retrospect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Yashaswini Nallanchakravarthula</dc:creator>
  <cp:lastModifiedBy>DELL</cp:lastModifiedBy>
  <cp:revision>19</cp:revision>
  <dcterms:created xsi:type="dcterms:W3CDTF">2024-12-30T13:07:53Z</dcterms:created>
  <dcterms:modified xsi:type="dcterms:W3CDTF">2025-06-09T05:47:26Z</dcterms:modified>
</cp:coreProperties>
</file>